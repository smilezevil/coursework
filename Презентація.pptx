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1"/>
  </p:normalViewPr>
  <p:slideViewPr>
    <p:cSldViewPr snapToGrid="0">
      <p:cViewPr>
        <p:scale>
          <a:sx n="100" d="100"/>
          <a:sy n="100" d="100"/>
        </p:scale>
        <p:origin x="102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8692-E692-73DA-01DB-AA784D21D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16F49-920A-C589-3735-FE661F9FE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8826A-F123-5D7C-559C-820CB036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E6478-FBE5-D740-107D-2621ABFB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572D6-56D3-924D-D308-6C1E4166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74646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6032-1D6F-50BA-5A96-C1B8574A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163D8-918D-77BF-20A7-0297D1D71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E95F7-6134-D75E-12D8-912FCC34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684B6-BA23-F749-6C9F-E7B86171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0B023-66AD-8607-BCD5-77EDCEC0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7666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266C-EF93-C7A4-57D6-C2D29C76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6D684-8F93-C6D3-78F2-59C69B0C0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C82FC-D238-40BC-22AD-B1DE2E4B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2CD2-294F-CC31-788B-454F92072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E834A-E2E1-A8A7-CCF2-C9CF7F24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3667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F0B-BFB7-F3C2-57E8-8C41327C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CCF84-DDD0-52C4-3416-E6500521B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2FABF-404D-F833-84E1-5E739267E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B11A1-2888-920A-0F78-017DBE0D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6ACA8-4CB0-375C-EF43-832668F1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1581B-D33D-D266-42F1-7D021A63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7065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10C6-458D-6FAD-0CB6-193DEF45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2A7D-5452-1688-82E1-E08677837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18071-EB5A-CDF9-FC0F-DA6971159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5C96A-6FE1-FF7C-582E-E51E47A3B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091F1-6015-4F7A-81C4-802DA4918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2F508-4546-5C32-BCD9-DF3FCBD0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0C6B5-B713-337C-5695-48DFBA76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7E85A-CD9A-59F8-2E6C-7E10B2C0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4630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4C8E8-9E64-842D-5885-510DFBFC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B5027-CB77-6A77-C313-D29375AA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EC08B-D656-E2CB-80B6-0C959E86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6924D-721C-BC2D-C8B9-0E5115AC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12895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2A8A9-D3BF-2A5A-F7FD-27798D6C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76520-ED12-7157-DB94-B5E8147F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C1EC3-041D-4CC6-6BEA-317DB05B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02374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7FC3-3E21-C3A4-6D05-1E8C962A1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89258-FE85-DE3F-95B6-DAE1F8085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26FBD-D977-58DA-CFEC-4BBE447B3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03969-0589-C8D2-3FE0-1509175E9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9F8A9-A34F-C3FE-8C5C-6EBC7C78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22E74-E6B5-9C14-B846-51DECC79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21978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1616-A5C5-6396-ACBE-7EC8D668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AC5A-6CEE-85C0-BBD3-0E0C1B5C4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7EC12-D892-5AC0-E8F5-3F0071639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61D20-E0AD-A35E-C217-AA189F97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7065F-7BE0-6C3F-4C3B-41448558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3AA7F-F28D-4A56-4D3D-3BD7C031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5582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DF19-7BE4-C4AC-C4E1-C0A7097BB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B3717-71EA-C5EA-21CA-30E0B4980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C072C-FD0D-CE9C-3B75-1F06FD6A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D3F3-2FB3-6C57-18AD-79705FD2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7353-5082-8FFB-9F13-BE8A5D22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26098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240C9-9EDA-1929-4B2D-AF0BC63AD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E0E0F-247D-8A60-5889-A0462FFAB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B7F5A-302C-CE72-D26E-D234B636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DC37C-84A7-D613-5545-81CC380F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F85F8-CE6D-366C-6906-E106947E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2455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0F4EB-AADE-365B-C345-274B63C46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BA71A-E449-8D41-D542-248E4B41E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9B48F-1162-83D3-2DA6-F59407F41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C570D-BABB-144B-9E23-FF82FD9260CF}" type="datetimeFigureOut">
              <a:rPr lang="en-UA" smtClean="0"/>
              <a:t>26.11.2025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FE68E-9376-22A6-471A-EB31E9B20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ED356-A557-49BE-B002-BEF9A67A5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C0BCD-E6B6-A84B-ACCC-F26ECCAB0885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9590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8F29-2EE4-E398-4E9C-5BC2FB623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041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Курсовий проєкт </a:t>
            </a:r>
            <a:b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бронювання номерів в готелі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3AD239-D770-875C-5CD9-6B39C73F6C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28131" y="3750494"/>
            <a:ext cx="78905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A" altLang="en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Дисципліна:</a:t>
            </a:r>
            <a:r>
              <a:rPr kumimoji="0" lang="en-UA" altLang="en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Структури даних, алгоритми та об’єктно-орієнтована парадигма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A" altLang="en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D25984F-18EB-387F-FB48-A78D15A2C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7729" y="5816600"/>
            <a:ext cx="295010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A" altLang="en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Викона</a:t>
            </a:r>
            <a:r>
              <a:rPr kumimoji="0" lang="uk-UA" altLang="en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</a:t>
            </a:r>
            <a:r>
              <a:rPr kumimoji="0" lang="en-UA" altLang="en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A" altLang="en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altLang="en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Демʼянчук А.М.</a:t>
            </a:r>
            <a:endParaRPr kumimoji="0" lang="en-UA" altLang="en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A" altLang="en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003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38EE-9DCC-2A4E-7A86-7D60617D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64319"/>
          </a:xfrm>
        </p:spPr>
        <p:txBody>
          <a:bodyPr>
            <a:normAutofit fontScale="90000"/>
          </a:bodyPr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Мета: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Розробка програмної системи для автоматизації роботи адміністратора готелю, ведення обліку номерного фонду та керування бронюваннями.</a:t>
            </a:r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31CD2-693B-326A-452C-BC8768BF5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7583"/>
            <a:ext cx="10515600" cy="30893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завдання: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Проаналізувати предметну область (готельний бізнес).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Спроєктувати архітектуру системи на основі принципів ООП.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Реалізувати збереження даних у файли формату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алгоритм пошуку вільних номерів та запобігання конфліктам дат.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Реалізувати зручний консольний інтерфейс користувача.</a:t>
            </a:r>
          </a:p>
          <a:p>
            <a:endParaRPr lang="en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37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1826-6847-30A9-ADEA-CAB47F4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09" y="480653"/>
            <a:ext cx="6370121" cy="1325563"/>
          </a:xfrm>
        </p:spPr>
        <p:txBody>
          <a:bodyPr/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Інструментальні </a:t>
            </a:r>
            <a:r>
              <a:rPr lang="uk-UA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засоби</a:t>
            </a:r>
            <a:endParaRPr lang="en-UA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65D2D8-A172-DE00-7177-8840B30174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3510" y="2273181"/>
            <a:ext cx="637012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A" altLang="en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Мова програмування:</a:t>
            </a:r>
            <a:r>
              <a:rPr kumimoji="0" lang="en-UA" altLang="en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C++ (Стандарт C++17)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en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Серед</a:t>
            </a:r>
            <a:r>
              <a:rPr kumimoji="0" lang="en-UA" altLang="en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овище розробки (IDE):</a:t>
            </a:r>
            <a:r>
              <a:rPr kumimoji="0" lang="en-UA" altLang="en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CLion (на macOS)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збірки:</a:t>
            </a:r>
            <a:r>
              <a:rPr kumimoji="0" lang="en-UA" altLang="en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CMake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даних:</a:t>
            </a:r>
            <a:r>
              <a:rPr kumimoji="0" lang="en-UA" altLang="en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CSV (Comma-Separated Values)</a:t>
            </a:r>
          </a:p>
        </p:txBody>
      </p:sp>
      <p:pic>
        <p:nvPicPr>
          <p:cNvPr id="2051" name="Picture 3" descr="GitHub - isocpp/logos: C++ logos created for isocpp.org">
            <a:extLst>
              <a:ext uri="{FF2B5EF4-FFF2-40B4-BE49-F238E27FC236}">
                <a16:creationId xmlns:a16="http://schemas.microsoft.com/office/drawing/2014/main" id="{16DE2779-6ECD-921E-A5C3-F7E41F547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069" y="1806216"/>
            <a:ext cx="2198858" cy="219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Lion Sticker">
            <a:extLst>
              <a:ext uri="{FF2B5EF4-FFF2-40B4-BE49-F238E27FC236}">
                <a16:creationId xmlns:a16="http://schemas.microsoft.com/office/drawing/2014/main" id="{1EBE44EC-51C7-FC9F-1C29-36113A605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5" t="21017" r="20997" b="20436"/>
          <a:stretch>
            <a:fillRect/>
          </a:stretch>
        </p:blipFill>
        <p:spPr bwMode="auto">
          <a:xfrm>
            <a:off x="7083632" y="4411440"/>
            <a:ext cx="1963387" cy="196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Building a Project with CMake">
            <a:extLst>
              <a:ext uri="{FF2B5EF4-FFF2-40B4-BE49-F238E27FC236}">
                <a16:creationId xmlns:a16="http://schemas.microsoft.com/office/drawing/2014/main" id="{9AC99EB2-F243-53BA-34C3-C231F618E4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7" t="32241" r="12363" b="28506"/>
          <a:stretch>
            <a:fillRect/>
          </a:stretch>
        </p:blipFill>
        <p:spPr bwMode="auto">
          <a:xfrm>
            <a:off x="7623276" y="480653"/>
            <a:ext cx="3118444" cy="89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Csv - Free files and folders icons">
            <a:extLst>
              <a:ext uri="{FF2B5EF4-FFF2-40B4-BE49-F238E27FC236}">
                <a16:creationId xmlns:a16="http://schemas.microsoft.com/office/drawing/2014/main" id="{B8E9ED58-83D4-B176-8125-F92D0902E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918" y="3851408"/>
            <a:ext cx="2198858" cy="219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01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68D7-40AE-F638-5AFD-203AED04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481" y="168080"/>
            <a:ext cx="5904771" cy="610985"/>
          </a:xfrm>
        </p:spPr>
        <p:txBody>
          <a:bodyPr>
            <a:noAutofit/>
          </a:bodyPr>
          <a:lstStyle/>
          <a:p>
            <a:pPr algn="ctr"/>
            <a:r>
              <a:rPr lang="uk-U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Перелік сценаріїв використання</a:t>
            </a:r>
            <a:endParaRPr lang="en-UA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EA6A2E-44DB-1AEB-48E6-624146BE7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66010"/>
              </p:ext>
            </p:extLst>
          </p:nvPr>
        </p:nvGraphicFramePr>
        <p:xfrm>
          <a:off x="437649" y="1106905"/>
          <a:ext cx="5517981" cy="39565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1196">
                  <a:extLst>
                    <a:ext uri="{9D8B030D-6E8A-4147-A177-3AD203B41FA5}">
                      <a16:colId xmlns:a16="http://schemas.microsoft.com/office/drawing/2014/main" val="2303263794"/>
                    </a:ext>
                  </a:extLst>
                </a:gridCol>
                <a:gridCol w="4636785">
                  <a:extLst>
                    <a:ext uri="{9D8B030D-6E8A-4147-A177-3AD203B41FA5}">
                      <a16:colId xmlns:a16="http://schemas.microsoft.com/office/drawing/2014/main" val="3997919265"/>
                    </a:ext>
                  </a:extLst>
                </a:gridCol>
              </a:tblGrid>
              <a:tr h="194585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1: </a:t>
                      </a:r>
                      <a:r>
                        <a:rPr lang="en-UA" sz="1200">
                          <a:effectLst/>
                        </a:rPr>
                        <a:t>Авторизація в системі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612128"/>
                  </a:ext>
                </a:extLst>
              </a:tr>
              <a:tr h="389171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Передумова: </a:t>
                      </a:r>
                      <a:r>
                        <a:rPr lang="en-UA" sz="1200" dirty="0">
                          <a:effectLst/>
                        </a:rPr>
                        <a:t>Програма запущена, відображається логотип та запит авторизації.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356926"/>
                  </a:ext>
                </a:extLst>
              </a:tr>
              <a:tr h="19458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818606"/>
                  </a:ext>
                </a:extLst>
              </a:tr>
              <a:tr h="389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Крок 1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запит «Логін: ». Користувач вводить свій логін.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9606636"/>
                  </a:ext>
                </a:extLst>
              </a:tr>
              <a:tr h="389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запит «Пароль: ». Користувач вводить пароль.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6227097"/>
                  </a:ext>
                </a:extLst>
              </a:tr>
              <a:tr h="389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перевіряє введені дані через менеджер користувачів</a:t>
                      </a:r>
                      <a:r>
                        <a:rPr lang="en-US" sz="1200">
                          <a:effectLst/>
                        </a:rPr>
                        <a:t>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4118"/>
                  </a:ext>
                </a:extLst>
              </a:tr>
              <a:tr h="583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Якщо дані вірні, виводиться повідомлення «Ви успішно увійшли в систему!», відображається ім'я користувача та його роль (якщо це адміністратор).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4108237"/>
                  </a:ext>
                </a:extLst>
              </a:tr>
              <a:tr h="194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Відкривається Головне меню програми.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0571306"/>
                  </a:ext>
                </a:extLst>
              </a:tr>
              <a:tr h="19458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630452"/>
                  </a:ext>
                </a:extLst>
              </a:tr>
              <a:tr h="194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неправильний логін або пароль.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6032456"/>
                  </a:ext>
                </a:extLst>
              </a:tr>
              <a:tr h="454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Система виводить повідомлення «Невірний логін або пароль! Залишилось спроб: [X]».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0237069"/>
                  </a:ext>
                </a:extLst>
              </a:tr>
              <a:tr h="389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Якщо кількість спроб вичерпана, програма завершує роботу або блокує вхід. Якщо спроби є — повернення до Кроку 1.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1780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FE37A7-34C1-7F8E-90C4-71B9B2889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598532"/>
              </p:ext>
            </p:extLst>
          </p:nvPr>
        </p:nvGraphicFramePr>
        <p:xfrm>
          <a:off x="6233315" y="2213810"/>
          <a:ext cx="5521036" cy="38651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4731">
                  <a:extLst>
                    <a:ext uri="{9D8B030D-6E8A-4147-A177-3AD203B41FA5}">
                      <a16:colId xmlns:a16="http://schemas.microsoft.com/office/drawing/2014/main" val="138691909"/>
                    </a:ext>
                  </a:extLst>
                </a:gridCol>
                <a:gridCol w="4636305">
                  <a:extLst>
                    <a:ext uri="{9D8B030D-6E8A-4147-A177-3AD203B41FA5}">
                      <a16:colId xmlns:a16="http://schemas.microsoft.com/office/drawing/2014/main" val="2852951303"/>
                    </a:ext>
                  </a:extLst>
                </a:gridCol>
              </a:tblGrid>
              <a:tr h="19992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Сценарій 2: </a:t>
                      </a:r>
                      <a:r>
                        <a:rPr lang="en-UA" sz="1200" dirty="0">
                          <a:effectLst/>
                        </a:rPr>
                        <a:t>Додавання нового готелю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47480"/>
                  </a:ext>
                </a:extLst>
              </a:tr>
              <a:tr h="19992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підменю «Керування готелями».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78823"/>
                  </a:ext>
                </a:extLst>
              </a:tr>
              <a:tr h="19992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 dirty="0">
                          <a:effectLst/>
                        </a:rPr>
                        <a:t>Основний сценарій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09484"/>
                  </a:ext>
                </a:extLst>
              </a:tr>
              <a:tr h="199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1. Додати готель.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4479632"/>
                  </a:ext>
                </a:extLst>
              </a:tr>
              <a:tr h="39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заголовок «ДОДАТИ ГОТЕЛЬ» і запитує «Назва готелю: 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059104"/>
                  </a:ext>
                </a:extLst>
              </a:tr>
              <a:tr h="199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назву.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8548455"/>
                  </a:ext>
                </a:extLst>
              </a:tr>
              <a:tr h="199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«Місто: ». Користувач вводить місто.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1252155"/>
                  </a:ext>
                </a:extLst>
              </a:tr>
              <a:tr h="46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Система запитує «Кількість зірок (1-5): ». Користувач вводить число.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2869870"/>
                  </a:ext>
                </a:extLst>
              </a:tr>
              <a:tr h="39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створює об'єкт готелю, присвоює йому унікальний ID і зберігає в пам'яті.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6978678"/>
                  </a:ext>
                </a:extLst>
              </a:tr>
              <a:tr h="199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</a:t>
                      </a:r>
                      <a:r>
                        <a:rPr lang="en-US" sz="1200">
                          <a:effectLst/>
                        </a:rPr>
                        <a:t>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Виводиться повідомлення «Готель успішно додано!».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9587894"/>
                  </a:ext>
                </a:extLst>
              </a:tr>
              <a:tr h="19992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554523"/>
                  </a:ext>
                </a:extLst>
              </a:tr>
              <a:tr h="39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При введенні кількості зірок користувач вводить число поза діапазоном (наприклад, 6) або текст.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3526549"/>
                  </a:ext>
                </a:extLst>
              </a:tr>
              <a:tr h="39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Спрацьовує валідація: виводиться повідомлення «Число має бути в діапазоні від 1 до 5» або «Некоректне введення».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9243628"/>
                  </a:ext>
                </a:extLst>
              </a:tr>
              <a:tr h="199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просить повторити введення некоректного поля.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0050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63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F3111E-F132-D1EC-21BC-D342AD30B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566598"/>
              </p:ext>
            </p:extLst>
          </p:nvPr>
        </p:nvGraphicFramePr>
        <p:xfrm>
          <a:off x="161790" y="1615440"/>
          <a:ext cx="5673525" cy="3627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1027">
                  <a:extLst>
                    <a:ext uri="{9D8B030D-6E8A-4147-A177-3AD203B41FA5}">
                      <a16:colId xmlns:a16="http://schemas.microsoft.com/office/drawing/2014/main" val="1501198349"/>
                    </a:ext>
                  </a:extLst>
                </a:gridCol>
                <a:gridCol w="4772498">
                  <a:extLst>
                    <a:ext uri="{9D8B030D-6E8A-4147-A177-3AD203B41FA5}">
                      <a16:colId xmlns:a16="http://schemas.microsoft.com/office/drawing/2014/main" val="34843354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3: </a:t>
                      </a:r>
                      <a:r>
                        <a:rPr lang="en-UA" sz="1200">
                          <a:effectLst/>
                        </a:rPr>
                        <a:t>Редагування даних готелю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0012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Передумова: </a:t>
                      </a:r>
                      <a:r>
                        <a:rPr lang="en-UA" sz="1200" dirty="0">
                          <a:effectLst/>
                        </a:rPr>
                        <a:t>Користувач знаходиться в підменю «Керування готелями».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0677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16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Користувач обирає пункт 2. Редагувати готель.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3749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список усіх готелів і просить ввести ID готелю.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669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ID.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376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знаходить готель і виводить його поточні дані. Відображається меню вибору поля для редагування (1. Назву, 2. Місто, 3. Зірки, 4. Все, 0. Скасувати).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31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обирає, наприклад, «1. Назву».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2480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Система просить ввести нову назву (або натиснути Enter, щоб залишити стару).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702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</a:t>
                      </a:r>
                      <a:r>
                        <a:rPr lang="en-US" sz="1200">
                          <a:effectLst/>
                        </a:rPr>
                        <a:t>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Користувач вводить нові дані.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6976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</a:t>
                      </a:r>
                      <a:r>
                        <a:rPr lang="en-US" sz="1200">
                          <a:effectLst/>
                        </a:rPr>
                        <a:t>8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Система оновлює запис і виводить «Готель успішно відредаговано!».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407418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91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ID готелю, якого не існує.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0690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помилку «Готель не знайдено!» і повертає користувача в меню.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324337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63ABF1-DDD1-522B-808B-0BEC488D7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326499"/>
              </p:ext>
            </p:extLst>
          </p:nvPr>
        </p:nvGraphicFramePr>
        <p:xfrm>
          <a:off x="6233680" y="1585368"/>
          <a:ext cx="5535845" cy="3322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3438">
                  <a:extLst>
                    <a:ext uri="{9D8B030D-6E8A-4147-A177-3AD203B41FA5}">
                      <a16:colId xmlns:a16="http://schemas.microsoft.com/office/drawing/2014/main" val="1372665896"/>
                    </a:ext>
                  </a:extLst>
                </a:gridCol>
                <a:gridCol w="4652407">
                  <a:extLst>
                    <a:ext uri="{9D8B030D-6E8A-4147-A177-3AD203B41FA5}">
                      <a16:colId xmlns:a16="http://schemas.microsoft.com/office/drawing/2014/main" val="312319705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4: </a:t>
                      </a:r>
                      <a:r>
                        <a:rPr lang="en-UA" sz="1200">
                          <a:effectLst/>
                        </a:rPr>
                        <a:t>Видалення готелю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27416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Передумова: </a:t>
                      </a:r>
                      <a:r>
                        <a:rPr lang="en-UA" sz="1200" dirty="0">
                          <a:effectLst/>
                        </a:rPr>
                        <a:t>Користувач знаходиться в підменю «Керування готелями».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67323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35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3. Видалити готель.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3192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Система виводить список готелів і просить ввести ID.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676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ID.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5671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показує дані готелю і попередження: «При видаленні готелю будуть також видалені всі його номери та бронювання!».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5710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підтвердження (так/ні).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5505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підтверджує дію.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1380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Крок</a:t>
                      </a:r>
                      <a:r>
                        <a:rPr lang="en-US" sz="1200" dirty="0">
                          <a:effectLst/>
                        </a:rPr>
                        <a:t> 7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видаляє всі номери, прив'язані до цього готелю, а потім сам готель.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5433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</a:t>
                      </a:r>
                      <a:r>
                        <a:rPr lang="en-US" sz="1200">
                          <a:effectLst/>
                        </a:rPr>
                        <a:t> 8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Виводиться повідомлення «Готель успішно видалено! Також видалено номерів: [кількість]».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654681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053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на етапі підтвердження вводить «ні»</a:t>
                      </a:r>
                      <a:r>
                        <a:rPr lang="en-US" sz="1200">
                          <a:effectLst/>
                        </a:rPr>
                        <a:t>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0739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повідомлення «Видалення скасовано» і повертає в меню.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3342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44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94289E-EF52-769C-E7D0-8D380EFA9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838577"/>
              </p:ext>
            </p:extLst>
          </p:nvPr>
        </p:nvGraphicFramePr>
        <p:xfrm>
          <a:off x="342265" y="1364381"/>
          <a:ext cx="5753735" cy="44468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5670">
                  <a:extLst>
                    <a:ext uri="{9D8B030D-6E8A-4147-A177-3AD203B41FA5}">
                      <a16:colId xmlns:a16="http://schemas.microsoft.com/office/drawing/2014/main" val="366946109"/>
                    </a:ext>
                  </a:extLst>
                </a:gridCol>
                <a:gridCol w="4838065">
                  <a:extLst>
                    <a:ext uri="{9D8B030D-6E8A-4147-A177-3AD203B41FA5}">
                      <a16:colId xmlns:a16="http://schemas.microsoft.com/office/drawing/2014/main" val="3552719085"/>
                    </a:ext>
                  </a:extLst>
                </a:gridCol>
              </a:tblGrid>
              <a:tr h="222344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5: </a:t>
                      </a:r>
                      <a:r>
                        <a:rPr lang="en-UA" sz="1200">
                          <a:effectLst/>
                        </a:rPr>
                        <a:t>Перегляд та пошук готелів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90046"/>
                  </a:ext>
                </a:extLst>
              </a:tr>
              <a:tr h="444687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підменю «Керування готелями».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205901"/>
                  </a:ext>
                </a:extLst>
              </a:tr>
              <a:tr h="22234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 dirty="0">
                          <a:effectLst/>
                        </a:rPr>
                        <a:t>Основний сценарій </a:t>
                      </a:r>
                      <a:r>
                        <a:rPr lang="en-UA" sz="1200" dirty="0">
                          <a:effectLst/>
                        </a:rPr>
                        <a:t>(Перегляд)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485261"/>
                  </a:ext>
                </a:extLst>
              </a:tr>
              <a:tr h="222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4. Переглянути всі готелі.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005874"/>
                  </a:ext>
                </a:extLst>
              </a:tr>
              <a:tr h="222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таблицю з усіма готелями.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6921201"/>
                  </a:ext>
                </a:extLst>
              </a:tr>
              <a:tr h="222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Очікування натискання клавіші для повернення.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9766353"/>
                  </a:ext>
                </a:extLst>
              </a:tr>
              <a:tr h="222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</a:t>
                      </a:r>
                      <a:r>
                        <a:rPr lang="en-US" sz="1200">
                          <a:effectLst/>
                        </a:rPr>
                        <a:t> 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Якщо перетинів немає — бронювання створюється.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4528724"/>
                  </a:ext>
                </a:extLst>
              </a:tr>
              <a:tr h="22234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 </a:t>
                      </a:r>
                      <a:r>
                        <a:rPr lang="en-UA" sz="1200">
                          <a:effectLst/>
                        </a:rPr>
                        <a:t>(П</a:t>
                      </a:r>
                      <a:r>
                        <a:rPr lang="uk-UA" sz="1200">
                          <a:effectLst/>
                        </a:rPr>
                        <a:t>ошук</a:t>
                      </a:r>
                      <a:r>
                        <a:rPr lang="en-UA" sz="1200">
                          <a:effectLst/>
                        </a:rPr>
                        <a:t>)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6592"/>
                  </a:ext>
                </a:extLst>
              </a:tr>
              <a:tr h="222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5. Пошук готелів.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5558174"/>
                  </a:ext>
                </a:extLst>
              </a:tr>
              <a:tr h="44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пропонує критерії: 1. За назвою, 2. За містом, 3. За кількістю зірок.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6771495"/>
                  </a:ext>
                </a:extLst>
              </a:tr>
              <a:tr h="44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обирає, наприклад, «За містом» і вводить «Київ».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1339953"/>
                  </a:ext>
                </a:extLst>
              </a:tr>
              <a:tr h="44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фільтрує список і виводить тільки готелі в Києві.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9805597"/>
                  </a:ext>
                </a:extLst>
              </a:tr>
              <a:tr h="22234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804958"/>
                  </a:ext>
                </a:extLst>
              </a:tr>
              <a:tr h="222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Пошук не дав результатів.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4952663"/>
                  </a:ext>
                </a:extLst>
              </a:tr>
              <a:tr h="44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Крок 2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повідомлення «Нічого не знайдено!».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223813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C3F249-404F-D7AD-F695-3489651B8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455934"/>
              </p:ext>
            </p:extLst>
          </p:nvPr>
        </p:nvGraphicFramePr>
        <p:xfrm>
          <a:off x="6371406" y="1388446"/>
          <a:ext cx="5478329" cy="43554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4865">
                  <a:extLst>
                    <a:ext uri="{9D8B030D-6E8A-4147-A177-3AD203B41FA5}">
                      <a16:colId xmlns:a16="http://schemas.microsoft.com/office/drawing/2014/main" val="1192523146"/>
                    </a:ext>
                  </a:extLst>
                </a:gridCol>
                <a:gridCol w="4603464">
                  <a:extLst>
                    <a:ext uri="{9D8B030D-6E8A-4147-A177-3AD203B41FA5}">
                      <a16:colId xmlns:a16="http://schemas.microsoft.com/office/drawing/2014/main" val="2933304759"/>
                    </a:ext>
                  </a:extLst>
                </a:gridCol>
              </a:tblGrid>
              <a:tr h="256202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6: </a:t>
                      </a:r>
                      <a:r>
                        <a:rPr lang="en-UA" sz="1200">
                          <a:effectLst/>
                        </a:rPr>
                        <a:t>Сортування списку готелів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724996"/>
                  </a:ext>
                </a:extLst>
              </a:tr>
              <a:tr h="512404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Передумова: </a:t>
                      </a:r>
                      <a:r>
                        <a:rPr lang="en-UA" sz="1200" dirty="0">
                          <a:effectLst/>
                        </a:rPr>
                        <a:t>Користувач знаходиться в підменю «Керування готелями».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44282"/>
                  </a:ext>
                </a:extLst>
              </a:tr>
              <a:tr h="25620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73533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6. Сортування готелів.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081986"/>
                  </a:ext>
                </a:extLst>
              </a:tr>
              <a:tr h="512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критерій сортування: 1. За назвою, 2. За містом, 3. За зірками.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4349942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робить вибір.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6031198"/>
                  </a:ext>
                </a:extLst>
              </a:tr>
              <a:tr h="768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сортує список у пам'яті та виводить повідомлення про успіх (наприклад, «Готелі відсортовано за назвою!»).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7143127"/>
                  </a:ext>
                </a:extLst>
              </a:tr>
              <a:tr h="512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Автоматично викликається функція перегляду вже відсортованого списку.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2515993"/>
                  </a:ext>
                </a:extLst>
              </a:tr>
              <a:tr h="25620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102006"/>
                  </a:ext>
                </a:extLst>
              </a:tr>
              <a:tr h="512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неіснуючий пункт меню сортування.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7056650"/>
                  </a:ext>
                </a:extLst>
              </a:tr>
              <a:tr h="256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повідомляє про невірний вибір.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894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173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1D4188-3019-589A-F2A7-D3CF75AEA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06932"/>
              </p:ext>
            </p:extLst>
          </p:nvPr>
        </p:nvGraphicFramePr>
        <p:xfrm>
          <a:off x="548121" y="1352544"/>
          <a:ext cx="5162867" cy="41529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5056">
                  <a:extLst>
                    <a:ext uri="{9D8B030D-6E8A-4147-A177-3AD203B41FA5}">
                      <a16:colId xmlns:a16="http://schemas.microsoft.com/office/drawing/2014/main" val="2049925716"/>
                    </a:ext>
                  </a:extLst>
                </a:gridCol>
                <a:gridCol w="4337811">
                  <a:extLst>
                    <a:ext uri="{9D8B030D-6E8A-4147-A177-3AD203B41FA5}">
                      <a16:colId xmlns:a16="http://schemas.microsoft.com/office/drawing/2014/main" val="4281284893"/>
                    </a:ext>
                  </a:extLst>
                </a:gridCol>
              </a:tblGrid>
              <a:tr h="194668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7: </a:t>
                      </a:r>
                      <a:r>
                        <a:rPr lang="en-UA" sz="1200">
                          <a:effectLst/>
                        </a:rPr>
                        <a:t>Додавання нового номера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080904"/>
                  </a:ext>
                </a:extLst>
              </a:tr>
              <a:tr h="389335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номерами»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547307"/>
                  </a:ext>
                </a:extLst>
              </a:tr>
              <a:tr h="194668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 dirty="0">
                          <a:effectLst/>
                        </a:rPr>
                        <a:t>Основний сценарій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301166"/>
                  </a:ext>
                </a:extLst>
              </a:tr>
              <a:tr h="1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«1. Додати номер».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2924001"/>
                  </a:ext>
                </a:extLst>
              </a:tr>
              <a:tr h="38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список доступних готелів і просить обрати ID.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82456"/>
                  </a:ext>
                </a:extLst>
              </a:tr>
              <a:tr h="1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ID готелю.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1324169"/>
                  </a:ext>
                </a:extLst>
              </a:tr>
              <a:tr h="38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тип номера (введіть "Люкс" або "Стандарт").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6394456"/>
                  </a:ext>
                </a:extLst>
              </a:tr>
              <a:tr h="1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місткість (введіть 2 або 3).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0348733"/>
                  </a:ext>
                </a:extLst>
              </a:tr>
              <a:tr h="454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>
                          <a:effectLst/>
                        </a:rPr>
                        <a:t>Програма створює новий об'єкт Room, прив'язує його до готелю і зберігає.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5922934"/>
                  </a:ext>
                </a:extLst>
              </a:tr>
              <a:tr h="38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Виводиться повідомлення «Номер успішно додано» і оновлений список номерів.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1614014"/>
                  </a:ext>
                </a:extLst>
              </a:tr>
              <a:tr h="194668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405899"/>
                  </a:ext>
                </a:extLst>
              </a:tr>
              <a:tr h="1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некоректну місткість (наприклад, 5).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9137338"/>
                  </a:ext>
                </a:extLst>
              </a:tr>
              <a:tr h="584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повідомлення «Некоректне введення. Будь ласка, введіть число» або валідацію (якщо реалізовано обмеження 2/3).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1571005"/>
                  </a:ext>
                </a:extLst>
              </a:tr>
              <a:tr h="1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Крок</a:t>
                      </a:r>
                      <a:r>
                        <a:rPr lang="en-US" sz="1200" dirty="0">
                          <a:effectLst/>
                        </a:rPr>
                        <a:t> 3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Повторний запит даних.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041668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458CD6-126E-F168-ADF6-89478A33D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876243"/>
              </p:ext>
            </p:extLst>
          </p:nvPr>
        </p:nvGraphicFramePr>
        <p:xfrm>
          <a:off x="5998427" y="1352544"/>
          <a:ext cx="5864710" cy="41529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5920">
                  <a:extLst>
                    <a:ext uri="{9D8B030D-6E8A-4147-A177-3AD203B41FA5}">
                      <a16:colId xmlns:a16="http://schemas.microsoft.com/office/drawing/2014/main" val="849256616"/>
                    </a:ext>
                  </a:extLst>
                </a:gridCol>
                <a:gridCol w="4928790">
                  <a:extLst>
                    <a:ext uri="{9D8B030D-6E8A-4147-A177-3AD203B41FA5}">
                      <a16:colId xmlns:a16="http://schemas.microsoft.com/office/drawing/2014/main" val="1474182727"/>
                    </a:ext>
                  </a:extLst>
                </a:gridCol>
              </a:tblGrid>
              <a:tr h="244289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8: </a:t>
                      </a:r>
                      <a:r>
                        <a:rPr lang="en-UA" sz="1200">
                          <a:effectLst/>
                        </a:rPr>
                        <a:t>Редагування номера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348729"/>
                  </a:ext>
                </a:extLst>
              </a:tr>
              <a:tr h="488578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номерами»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127243"/>
                  </a:ext>
                </a:extLst>
              </a:tr>
              <a:tr h="244289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332787"/>
                  </a:ext>
                </a:extLst>
              </a:tr>
              <a:tr h="2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«2. Редагувати номер».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2537319"/>
                  </a:ext>
                </a:extLst>
              </a:tr>
              <a:tr h="2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просить ввести ID номера.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9135640"/>
                  </a:ext>
                </a:extLst>
              </a:tr>
              <a:tr h="2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ID існуючого номера.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1759712"/>
                  </a:ext>
                </a:extLst>
              </a:tr>
              <a:tr h="488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«Новий клас (Enter - залишити без змін): 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5313525"/>
                  </a:ext>
                </a:extLst>
              </a:tr>
              <a:tr h="2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натискає Enter (пропускає зміну класу).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3564030"/>
                  </a:ext>
                </a:extLst>
              </a:tr>
              <a:tr h="2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</a:t>
                      </a:r>
                      <a:r>
                        <a:rPr lang="en-US" sz="1200">
                          <a:effectLst/>
                        </a:rPr>
                        <a:t>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«Нові місця (0 - залишити): 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6712564"/>
                  </a:ext>
                </a:extLst>
              </a:tr>
              <a:tr h="2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</a:t>
                      </a:r>
                      <a:r>
                        <a:rPr lang="en-US" sz="1200">
                          <a:effectLst/>
                        </a:rPr>
                        <a:t> 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нове число (наприклад, 3).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8697081"/>
                  </a:ext>
                </a:extLst>
              </a:tr>
              <a:tr h="4885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</a:t>
                      </a:r>
                      <a:r>
                        <a:rPr lang="en-US" sz="1200">
                          <a:effectLst/>
                        </a:rPr>
                        <a:t> 8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оновлює тільки місткість, залишаючи клас без змін.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163936"/>
                  </a:ext>
                </a:extLst>
              </a:tr>
              <a:tr h="244289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587066"/>
                  </a:ext>
                </a:extLst>
              </a:tr>
              <a:tr h="2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ID номера, якого немає в базі.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0201548"/>
                  </a:ext>
                </a:extLst>
              </a:tr>
              <a:tr h="2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«Помилка: Номер не знайдено».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937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83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29A7C7-21E3-A097-1C68-EFD80173C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421556"/>
              </p:ext>
            </p:extLst>
          </p:nvPr>
        </p:nvGraphicFramePr>
        <p:xfrm>
          <a:off x="235301" y="1007143"/>
          <a:ext cx="5624078" cy="4843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6897">
                  <a:extLst>
                    <a:ext uri="{9D8B030D-6E8A-4147-A177-3AD203B41FA5}">
                      <a16:colId xmlns:a16="http://schemas.microsoft.com/office/drawing/2014/main" val="2225371978"/>
                    </a:ext>
                  </a:extLst>
                </a:gridCol>
                <a:gridCol w="4727181">
                  <a:extLst>
                    <a:ext uri="{9D8B030D-6E8A-4147-A177-3AD203B41FA5}">
                      <a16:colId xmlns:a16="http://schemas.microsoft.com/office/drawing/2014/main" val="4292628177"/>
                    </a:ext>
                  </a:extLst>
                </a:gridCol>
              </a:tblGrid>
              <a:tr h="293559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9: </a:t>
                      </a:r>
                      <a:r>
                        <a:rPr lang="en-UA" sz="1200">
                          <a:effectLst/>
                        </a:rPr>
                        <a:t>Видалення номера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823906"/>
                  </a:ext>
                </a:extLst>
              </a:tr>
              <a:tr h="587116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номерами»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533664"/>
                  </a:ext>
                </a:extLst>
              </a:tr>
              <a:tr h="293559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042164"/>
                  </a:ext>
                </a:extLst>
              </a:tr>
              <a:tr h="293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«3. Видалити номер».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3456782"/>
                  </a:ext>
                </a:extLst>
              </a:tr>
              <a:tr h="293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просить ввести ID номера.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698077"/>
                  </a:ext>
                </a:extLst>
              </a:tr>
              <a:tr h="293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ID.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9520427"/>
                  </a:ext>
                </a:extLst>
              </a:tr>
              <a:tr h="1027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>
                          <a:effectLst/>
                        </a:rPr>
                        <a:t>Система автоматично звертається до BookingManager і видаляє всі активні бронювання, пов'язані з цим номером.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1852919"/>
                  </a:ext>
                </a:extLst>
              </a:tr>
              <a:tr h="293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</a:t>
                      </a:r>
                      <a:r>
                        <a:rPr lang="en-US" sz="1200">
                          <a:effectLst/>
                        </a:rPr>
                        <a:t>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видаляє сам номер з реєстру.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371485"/>
                  </a:ext>
                </a:extLst>
              </a:tr>
              <a:tr h="587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</a:t>
                      </a:r>
                      <a:r>
                        <a:rPr lang="en-US" sz="1200">
                          <a:effectLst/>
                        </a:rPr>
                        <a:t>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Виводиться повідомлення про успішне видалення.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8784936"/>
                  </a:ext>
                </a:extLst>
              </a:tr>
              <a:tr h="293559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02769"/>
                  </a:ext>
                </a:extLst>
              </a:tr>
              <a:tr h="587116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 dirty="0">
                          <a:effectLst/>
                        </a:rPr>
                        <a:t>Не передбачено (якщо ID існує, видалення відбувається миттєво).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1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3B8605-5230-40C1-6CC7-1EE7C7BC4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13045"/>
              </p:ext>
            </p:extLst>
          </p:nvPr>
        </p:nvGraphicFramePr>
        <p:xfrm>
          <a:off x="6079957" y="1007143"/>
          <a:ext cx="5876742" cy="48437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8489">
                  <a:extLst>
                    <a:ext uri="{9D8B030D-6E8A-4147-A177-3AD203B41FA5}">
                      <a16:colId xmlns:a16="http://schemas.microsoft.com/office/drawing/2014/main" val="852128813"/>
                    </a:ext>
                  </a:extLst>
                </a:gridCol>
                <a:gridCol w="4938253">
                  <a:extLst>
                    <a:ext uri="{9D8B030D-6E8A-4147-A177-3AD203B41FA5}">
                      <a16:colId xmlns:a16="http://schemas.microsoft.com/office/drawing/2014/main" val="2467118100"/>
                    </a:ext>
                  </a:extLst>
                </a:gridCol>
              </a:tblGrid>
              <a:tr h="296554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</a:t>
                      </a:r>
                      <a:r>
                        <a:rPr lang="en-GB" sz="1200">
                          <a:effectLst/>
                        </a:rPr>
                        <a:t>10</a:t>
                      </a:r>
                      <a:r>
                        <a:rPr lang="uk-UA" sz="1200">
                          <a:effectLst/>
                        </a:rPr>
                        <a:t>: </a:t>
                      </a:r>
                      <a:r>
                        <a:rPr lang="en-UA" sz="1200">
                          <a:effectLst/>
                        </a:rPr>
                        <a:t>Реєстрація нового гостя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948522"/>
                  </a:ext>
                </a:extLst>
              </a:tr>
              <a:tr h="593107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</a:t>
                      </a:r>
                      <a:r>
                        <a:rPr lang="uk-UA" sz="1200">
                          <a:effectLst/>
                        </a:rPr>
                        <a:t>г</a:t>
                      </a:r>
                      <a:r>
                        <a:rPr lang="en-UA" sz="1200">
                          <a:effectLst/>
                        </a:rPr>
                        <a:t>остями»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972516"/>
                  </a:ext>
                </a:extLst>
              </a:tr>
              <a:tr h="29655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59243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«1. Додати гостя».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5236642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Прізвище клієнта.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4951967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Ім'я клієнта.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4183495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Номер телефону.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480979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дані.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1452583"/>
                  </a:ext>
                </a:extLst>
              </a:tr>
              <a:tr h="69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>
                          <a:effectLst/>
                        </a:rPr>
                        <a:t>Система створює нового гостя в GuestManager і присвоює йому ID.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4231534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Виводиться повідомлення «Гостя успішно додано».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164686"/>
                  </a:ext>
                </a:extLst>
              </a:tr>
              <a:tr h="29655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358247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залишає обов'язкове поле пустим.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1019605"/>
                  </a:ext>
                </a:extLst>
              </a:tr>
              <a:tr h="593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попередження «Введення не може бути порожнім» і просить повторити ввід.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6153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081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4E95E5-AFD3-0496-1407-071B0FE6D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267718"/>
              </p:ext>
            </p:extLst>
          </p:nvPr>
        </p:nvGraphicFramePr>
        <p:xfrm>
          <a:off x="236622" y="998621"/>
          <a:ext cx="5680225" cy="50640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7105">
                  <a:extLst>
                    <a:ext uri="{9D8B030D-6E8A-4147-A177-3AD203B41FA5}">
                      <a16:colId xmlns:a16="http://schemas.microsoft.com/office/drawing/2014/main" val="1350490101"/>
                    </a:ext>
                  </a:extLst>
                </a:gridCol>
                <a:gridCol w="4773120">
                  <a:extLst>
                    <a:ext uri="{9D8B030D-6E8A-4147-A177-3AD203B41FA5}">
                      <a16:colId xmlns:a16="http://schemas.microsoft.com/office/drawing/2014/main" val="3992172872"/>
                    </a:ext>
                  </a:extLst>
                </a:gridCol>
              </a:tblGrid>
              <a:tr h="41471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</a:t>
                      </a:r>
                      <a:r>
                        <a:rPr lang="en-GB" sz="1200">
                          <a:effectLst/>
                        </a:rPr>
                        <a:t>1</a:t>
                      </a:r>
                      <a:r>
                        <a:rPr lang="uk-UA" sz="1200">
                          <a:effectLst/>
                        </a:rPr>
                        <a:t>1: </a:t>
                      </a:r>
                      <a:r>
                        <a:rPr lang="en-UA" sz="1200">
                          <a:effectLst/>
                        </a:rPr>
                        <a:t>Редагування даних гостя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04739"/>
                  </a:ext>
                </a:extLst>
              </a:tr>
              <a:tr h="516596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</a:t>
                      </a:r>
                      <a:r>
                        <a:rPr lang="uk-UA" sz="1200">
                          <a:effectLst/>
                        </a:rPr>
                        <a:t>г</a:t>
                      </a:r>
                      <a:r>
                        <a:rPr lang="en-UA" sz="1200">
                          <a:effectLst/>
                        </a:rPr>
                        <a:t>остями»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413000"/>
                  </a:ext>
                </a:extLst>
              </a:tr>
              <a:tr h="258299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834171"/>
                  </a:ext>
                </a:extLst>
              </a:tr>
              <a:tr h="25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«2. Редагувати гостя».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4810925"/>
                  </a:ext>
                </a:extLst>
              </a:tr>
              <a:tr h="25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Вводить ID гостя.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3805755"/>
                  </a:ext>
                </a:extLst>
              </a:tr>
              <a:tr h="25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показує поточні дані.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5372445"/>
                  </a:ext>
                </a:extLst>
              </a:tr>
              <a:tr h="516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«Нове Прізвище (Enter - залишити без змін): 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6452198"/>
                  </a:ext>
                </a:extLst>
              </a:tr>
              <a:tr h="516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нове прізвище або натискає Enter.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9643883"/>
                  </a:ext>
                </a:extLst>
              </a:tr>
              <a:tr h="25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Аналогічно для Імені та Телефону.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2535673"/>
                  </a:ext>
                </a:extLst>
              </a:tr>
              <a:tr h="516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зберігає зміни лише для тих полів, що були введені.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3570783"/>
                  </a:ext>
                </a:extLst>
              </a:tr>
              <a:tr h="25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8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Виводиться повідомлення «Дані оновлено».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9530796"/>
                  </a:ext>
                </a:extLst>
              </a:tr>
              <a:tr h="258299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609635"/>
                  </a:ext>
                </a:extLst>
              </a:tr>
              <a:tr h="25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Введено ID, якого не існує.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5902999"/>
                  </a:ext>
                </a:extLst>
              </a:tr>
              <a:tr h="516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«Помилка: Гостя не знайдено» і повертає в меню.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497832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B45381-46A2-B36C-BA19-565992692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43116"/>
              </p:ext>
            </p:extLst>
          </p:nvPr>
        </p:nvGraphicFramePr>
        <p:xfrm>
          <a:off x="6275153" y="1010653"/>
          <a:ext cx="5680225" cy="5052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7106">
                  <a:extLst>
                    <a:ext uri="{9D8B030D-6E8A-4147-A177-3AD203B41FA5}">
                      <a16:colId xmlns:a16="http://schemas.microsoft.com/office/drawing/2014/main" val="81699019"/>
                    </a:ext>
                  </a:extLst>
                </a:gridCol>
                <a:gridCol w="4773119">
                  <a:extLst>
                    <a:ext uri="{9D8B030D-6E8A-4147-A177-3AD203B41FA5}">
                      <a16:colId xmlns:a16="http://schemas.microsoft.com/office/drawing/2014/main" val="753192676"/>
                    </a:ext>
                  </a:extLst>
                </a:gridCol>
              </a:tblGrid>
              <a:tr h="244454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</a:t>
                      </a:r>
                      <a:r>
                        <a:rPr lang="en-GB" sz="1200">
                          <a:effectLst/>
                        </a:rPr>
                        <a:t>1</a:t>
                      </a:r>
                      <a:r>
                        <a:rPr lang="uk-UA" sz="1200">
                          <a:effectLst/>
                        </a:rPr>
                        <a:t>2: </a:t>
                      </a:r>
                      <a:r>
                        <a:rPr lang="en-UA" sz="1200">
                          <a:effectLst/>
                        </a:rPr>
                        <a:t>Видалення гостя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113524"/>
                  </a:ext>
                </a:extLst>
              </a:tr>
              <a:tr h="488908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</a:t>
                      </a:r>
                      <a:r>
                        <a:rPr lang="uk-UA" sz="1200">
                          <a:effectLst/>
                        </a:rPr>
                        <a:t>г</a:t>
                      </a:r>
                      <a:r>
                        <a:rPr lang="en-UA" sz="1200">
                          <a:effectLst/>
                        </a:rPr>
                        <a:t>остями»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22227"/>
                  </a:ext>
                </a:extLst>
              </a:tr>
              <a:tr h="24445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757071"/>
                  </a:ext>
                </a:extLst>
              </a:tr>
              <a:tr h="24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«3. Видалити гостя».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439848"/>
                  </a:ext>
                </a:extLst>
              </a:tr>
              <a:tr h="24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Вводить ID гостя.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6467537"/>
                  </a:ext>
                </a:extLst>
              </a:tr>
              <a:tr h="73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знаходить гостя і попереджає: «При видаленні гостя будуть також видалені всі його бронювання!».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6374025"/>
                  </a:ext>
                </a:extLst>
              </a:tr>
              <a:tr h="24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підтверджує дію.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9384907"/>
                  </a:ext>
                </a:extLst>
              </a:tr>
              <a:tr h="855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>
                          <a:effectLst/>
                        </a:rPr>
                        <a:t>BookingManager знаходить всі активні бронювання цього гостя і видаляє їх (номери звільняються).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5230863"/>
                  </a:ext>
                </a:extLst>
              </a:tr>
              <a:tr h="285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>
                          <a:effectLst/>
                        </a:rPr>
                        <a:t>GuestManager</a:t>
                      </a:r>
                      <a:r>
                        <a:rPr lang="en-UA" sz="1200">
                          <a:effectLst/>
                        </a:rPr>
                        <a:t> видаляє запис про гостя.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0303348"/>
                  </a:ext>
                </a:extLst>
              </a:tr>
              <a:tr h="488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зберігає зміни лише для тих полів, що були введені.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3403918"/>
                  </a:ext>
                </a:extLst>
              </a:tr>
              <a:tr h="244454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949987"/>
                  </a:ext>
                </a:extLst>
              </a:tr>
              <a:tr h="488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скасовує видалення на етапі підтвердження.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5180710"/>
                  </a:ext>
                </a:extLst>
              </a:tr>
              <a:tr h="24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Дані залишаються без змін.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7738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461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868412-B951-DBD0-BBBB-744B94848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09931"/>
              </p:ext>
            </p:extLst>
          </p:nvPr>
        </p:nvGraphicFramePr>
        <p:xfrm>
          <a:off x="403744" y="1034866"/>
          <a:ext cx="5587982" cy="48650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9292">
                  <a:extLst>
                    <a:ext uri="{9D8B030D-6E8A-4147-A177-3AD203B41FA5}">
                      <a16:colId xmlns:a16="http://schemas.microsoft.com/office/drawing/2014/main" val="4095946323"/>
                    </a:ext>
                  </a:extLst>
                </a:gridCol>
                <a:gridCol w="4698690">
                  <a:extLst>
                    <a:ext uri="{9D8B030D-6E8A-4147-A177-3AD203B41FA5}">
                      <a16:colId xmlns:a16="http://schemas.microsoft.com/office/drawing/2014/main" val="3096932201"/>
                    </a:ext>
                  </a:extLst>
                </a:gridCol>
              </a:tblGrid>
              <a:tr h="25605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13: </a:t>
                      </a:r>
                      <a:r>
                        <a:rPr lang="en-UA" sz="1200">
                          <a:effectLst/>
                        </a:rPr>
                        <a:t>Сортування та Пошук гостей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964419"/>
                  </a:ext>
                </a:extLst>
              </a:tr>
              <a:tr h="512106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Гостями».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116159"/>
                  </a:ext>
                </a:extLst>
              </a:tr>
              <a:tr h="25605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 dirty="0">
                          <a:effectLst/>
                        </a:rPr>
                        <a:t>Основний сценарій </a:t>
                      </a:r>
                      <a:r>
                        <a:rPr lang="en-UA" sz="1200" dirty="0">
                          <a:effectLst/>
                        </a:rPr>
                        <a:t>(Сортування)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277429"/>
                  </a:ext>
                </a:extLst>
              </a:tr>
              <a:tr h="512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«4. Сортувати за іменем».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8741545"/>
                  </a:ext>
                </a:extLst>
              </a:tr>
              <a:tr h="512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сортує список гостей в алфавітному порядку за Прізвищем/Іменем.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7747739"/>
                  </a:ext>
                </a:extLst>
              </a:tr>
              <a:tr h="256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Оновлений список виводиться на екран.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5063434"/>
                  </a:ext>
                </a:extLst>
              </a:tr>
              <a:tr h="25605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 </a:t>
                      </a:r>
                      <a:r>
                        <a:rPr lang="en-UA" sz="1200">
                          <a:effectLst/>
                        </a:rPr>
                        <a:t>(П</a:t>
                      </a:r>
                      <a:r>
                        <a:rPr lang="uk-UA" sz="1200">
                          <a:effectLst/>
                        </a:rPr>
                        <a:t>ошук</a:t>
                      </a:r>
                      <a:r>
                        <a:rPr lang="en-UA" sz="1200">
                          <a:effectLst/>
                        </a:rPr>
                        <a:t>)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702976"/>
                  </a:ext>
                </a:extLst>
              </a:tr>
              <a:tr h="256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«5. Пошук гостя».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2812919"/>
                  </a:ext>
                </a:extLst>
              </a:tr>
              <a:tr h="256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Вводить критерій (ПІБ або Номер телефону).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5051557"/>
                  </a:ext>
                </a:extLst>
              </a:tr>
              <a:tr h="256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шукає збіги.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6305650"/>
                  </a:ext>
                </a:extLst>
              </a:tr>
              <a:tr h="512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Виводяться дані знайденого гостя або повідомлення «Не знайдено».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571153"/>
                  </a:ext>
                </a:extLst>
              </a:tr>
              <a:tr h="25605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963102"/>
                  </a:ext>
                </a:extLst>
              </a:tr>
              <a:tr h="256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Пошук не дав результатів.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931869"/>
                  </a:ext>
                </a:extLst>
              </a:tr>
              <a:tr h="512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повідомлення «Нічого не знайдено!».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495602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44663C-A2FE-E236-0F31-1009EA871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3898"/>
              </p:ext>
            </p:extLst>
          </p:nvPr>
        </p:nvGraphicFramePr>
        <p:xfrm>
          <a:off x="6368714" y="1034865"/>
          <a:ext cx="5419542" cy="47882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5476">
                  <a:extLst>
                    <a:ext uri="{9D8B030D-6E8A-4147-A177-3AD203B41FA5}">
                      <a16:colId xmlns:a16="http://schemas.microsoft.com/office/drawing/2014/main" val="1252272519"/>
                    </a:ext>
                  </a:extLst>
                </a:gridCol>
                <a:gridCol w="4554066">
                  <a:extLst>
                    <a:ext uri="{9D8B030D-6E8A-4147-A177-3AD203B41FA5}">
                      <a16:colId xmlns:a16="http://schemas.microsoft.com/office/drawing/2014/main" val="2171136727"/>
                    </a:ext>
                  </a:extLst>
                </a:gridCol>
              </a:tblGrid>
              <a:tr h="27045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Сценарій </a:t>
                      </a:r>
                      <a:r>
                        <a:rPr lang="en-GB" sz="1200" dirty="0">
                          <a:effectLst/>
                        </a:rPr>
                        <a:t>1</a:t>
                      </a:r>
                      <a:r>
                        <a:rPr lang="uk-UA" sz="1200" dirty="0">
                          <a:effectLst/>
                        </a:rPr>
                        <a:t>4: </a:t>
                      </a:r>
                      <a:r>
                        <a:rPr lang="en-UA" sz="1200" dirty="0">
                          <a:effectLst/>
                        </a:rPr>
                        <a:t>Створення нового бронювання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155199"/>
                  </a:ext>
                </a:extLst>
              </a:tr>
              <a:tr h="27045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бронюваннями»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098873"/>
                  </a:ext>
                </a:extLst>
              </a:tr>
              <a:tr h="27045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809045"/>
                  </a:ext>
                </a:extLst>
              </a:tr>
              <a:tr h="270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«1. Додати бронювання».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2221350"/>
                  </a:ext>
                </a:extLst>
              </a:tr>
              <a:tr h="270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бажані дати заїзду та виїзду.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1617283"/>
                  </a:ext>
                </a:extLst>
              </a:tr>
              <a:tr h="54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аналізує базу даних і виводить список готелів, вказуючи кількість вільних номерів у кожному з них на ці дати.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1676616"/>
                  </a:ext>
                </a:extLst>
              </a:tr>
              <a:tr h="270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ID готелю.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311926"/>
                  </a:ext>
                </a:extLst>
              </a:tr>
              <a:tr h="54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список конкретних вільних номерів у цьому готелі (ID, Клас, Місткість).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6762987"/>
                  </a:ext>
                </a:extLst>
              </a:tr>
              <a:tr h="270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вводить ID бажаного номера.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4624674"/>
                  </a:ext>
                </a:extLst>
              </a:tr>
              <a:tr h="270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7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ID гостя зі списку.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8964689"/>
                  </a:ext>
                </a:extLst>
              </a:tr>
              <a:tr h="270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Крок 8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створює бронювання і зберігає його.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5397708"/>
                  </a:ext>
                </a:extLst>
              </a:tr>
              <a:tr h="27045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267868"/>
                  </a:ext>
                </a:extLst>
              </a:tr>
              <a:tr h="270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На вказані дати немає жодного вільного номера в жодному готелі.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5924058"/>
                  </a:ext>
                </a:extLst>
              </a:tr>
              <a:tr h="54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повідомлення «На жаль, на ці дати немає вільних номерів» і повертає в меню.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977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13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FFE8F1-6728-6AB5-7FCF-1480CE5B6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507985"/>
              </p:ext>
            </p:extLst>
          </p:nvPr>
        </p:nvGraphicFramePr>
        <p:xfrm>
          <a:off x="415774" y="974558"/>
          <a:ext cx="5178910" cy="51322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7048">
                  <a:extLst>
                    <a:ext uri="{9D8B030D-6E8A-4147-A177-3AD203B41FA5}">
                      <a16:colId xmlns:a16="http://schemas.microsoft.com/office/drawing/2014/main" val="2016935253"/>
                    </a:ext>
                  </a:extLst>
                </a:gridCol>
                <a:gridCol w="4351862">
                  <a:extLst>
                    <a:ext uri="{9D8B030D-6E8A-4147-A177-3AD203B41FA5}">
                      <a16:colId xmlns:a16="http://schemas.microsoft.com/office/drawing/2014/main" val="2058717835"/>
                    </a:ext>
                  </a:extLst>
                </a:gridCol>
              </a:tblGrid>
              <a:tr h="2680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</a:t>
                      </a:r>
                      <a:r>
                        <a:rPr lang="en-GB" sz="1200">
                          <a:effectLst/>
                        </a:rPr>
                        <a:t>1</a:t>
                      </a:r>
                      <a:r>
                        <a:rPr lang="uk-UA" sz="1200">
                          <a:effectLst/>
                        </a:rPr>
                        <a:t>5: </a:t>
                      </a:r>
                      <a:r>
                        <a:rPr lang="en-UA" sz="1200">
                          <a:effectLst/>
                        </a:rPr>
                        <a:t>Редагування бронювання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58892"/>
                  </a:ext>
                </a:extLst>
              </a:tr>
              <a:tr h="51202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бронюваннями»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099322"/>
                  </a:ext>
                </a:extLst>
              </a:tr>
              <a:tr h="25601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36064"/>
                  </a:ext>
                </a:extLst>
              </a:tr>
              <a:tr h="5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«2. Редагувати бронювання».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1356780"/>
                  </a:ext>
                </a:extLst>
              </a:tr>
              <a:tr h="256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Вводить ID бронювання.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8531908"/>
                  </a:ext>
                </a:extLst>
              </a:tr>
              <a:tr h="5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поточні дані та меню вибору: 1. Змінити гостя, 2. Змінити дати.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1287456"/>
                  </a:ext>
                </a:extLst>
              </a:tr>
              <a:tr h="5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Варіант А (Зміна гостя): Користувач обирає нового гостя зі списку.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6915078"/>
                  </a:ext>
                </a:extLst>
              </a:tr>
              <a:tr h="76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Варіант Б (Зміна дат): Користувач вводить нові дати заїзду/виїзду. Система перевіряє, чи вільний цей номер у новий період.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7580003"/>
                  </a:ext>
                </a:extLst>
              </a:tr>
              <a:tr h="256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Якщо перевірка успішна, дані оновлюються.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1947000"/>
                  </a:ext>
                </a:extLst>
              </a:tr>
              <a:tr h="25601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883597"/>
                  </a:ext>
                </a:extLst>
              </a:tr>
              <a:tr h="5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При зміні дат виявляється, що номер вже зайнятий у новий період.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886465"/>
                  </a:ext>
                </a:extLst>
              </a:tr>
              <a:tr h="5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помилку «Номер зайнятий на ці дати!» і скасовує редагування.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74505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9117D9-A110-0F3A-7617-86F570582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295622"/>
              </p:ext>
            </p:extLst>
          </p:nvPr>
        </p:nvGraphicFramePr>
        <p:xfrm>
          <a:off x="6228347" y="974558"/>
          <a:ext cx="5430253" cy="51322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7186">
                  <a:extLst>
                    <a:ext uri="{9D8B030D-6E8A-4147-A177-3AD203B41FA5}">
                      <a16:colId xmlns:a16="http://schemas.microsoft.com/office/drawing/2014/main" val="2615322560"/>
                    </a:ext>
                  </a:extLst>
                </a:gridCol>
                <a:gridCol w="4563067">
                  <a:extLst>
                    <a:ext uri="{9D8B030D-6E8A-4147-A177-3AD203B41FA5}">
                      <a16:colId xmlns:a16="http://schemas.microsoft.com/office/drawing/2014/main" val="3259523121"/>
                    </a:ext>
                  </a:extLst>
                </a:gridCol>
              </a:tblGrid>
              <a:tr h="390512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</a:t>
                      </a:r>
                      <a:r>
                        <a:rPr lang="en-GB" sz="1200">
                          <a:effectLst/>
                        </a:rPr>
                        <a:t>1</a:t>
                      </a:r>
                      <a:r>
                        <a:rPr lang="uk-UA" sz="1200">
                          <a:effectLst/>
                        </a:rPr>
                        <a:t>6: </a:t>
                      </a:r>
                      <a:r>
                        <a:rPr lang="en-UA" sz="1200">
                          <a:effectLst/>
                        </a:rPr>
                        <a:t>Видалення бронювання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341310"/>
                  </a:ext>
                </a:extLst>
              </a:tr>
              <a:tr h="418316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бронюваннями»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073547"/>
                  </a:ext>
                </a:extLst>
              </a:tr>
              <a:tr h="39051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890847"/>
                  </a:ext>
                </a:extLst>
              </a:tr>
              <a:tr h="390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«3. Видалити бронювання».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231675"/>
                  </a:ext>
                </a:extLst>
              </a:tr>
              <a:tr h="390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Вводить ID бронювання.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688866"/>
                  </a:ext>
                </a:extLst>
              </a:tr>
              <a:tr h="390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запитує підтвердження.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9406414"/>
                  </a:ext>
                </a:extLst>
              </a:tr>
              <a:tr h="390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підтверджує дію.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8592078"/>
                  </a:ext>
                </a:extLst>
              </a:tr>
              <a:tr h="781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видаляє запис про бронювання, номер автоматично стає вільним на ці дати.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9799755"/>
                  </a:ext>
                </a:extLst>
              </a:tr>
              <a:tr h="418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Виводиться повідомлення «Бронювання успішно видалено».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0509225"/>
                  </a:ext>
                </a:extLst>
              </a:tr>
              <a:tr h="39051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852318"/>
                  </a:ext>
                </a:extLst>
              </a:tr>
              <a:tr h="390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Введено невірний ID.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2608812"/>
                  </a:ext>
                </a:extLst>
              </a:tr>
              <a:tr h="390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повідомляє «Бронювання не знайдено».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7142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60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96218F-B379-5668-99E2-2BF017A6B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087675"/>
              </p:ext>
            </p:extLst>
          </p:nvPr>
        </p:nvGraphicFramePr>
        <p:xfrm>
          <a:off x="379680" y="1037223"/>
          <a:ext cx="5239066" cy="47835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655">
                  <a:extLst>
                    <a:ext uri="{9D8B030D-6E8A-4147-A177-3AD203B41FA5}">
                      <a16:colId xmlns:a16="http://schemas.microsoft.com/office/drawing/2014/main" val="2755446512"/>
                    </a:ext>
                  </a:extLst>
                </a:gridCol>
                <a:gridCol w="4402411">
                  <a:extLst>
                    <a:ext uri="{9D8B030D-6E8A-4147-A177-3AD203B41FA5}">
                      <a16:colId xmlns:a16="http://schemas.microsoft.com/office/drawing/2014/main" val="1307667018"/>
                    </a:ext>
                  </a:extLst>
                </a:gridCol>
              </a:tblGrid>
              <a:tr h="280600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</a:t>
                      </a:r>
                      <a:r>
                        <a:rPr lang="en-GB" sz="1200">
                          <a:effectLst/>
                        </a:rPr>
                        <a:t>1</a:t>
                      </a:r>
                      <a:r>
                        <a:rPr lang="uk-UA" sz="1200">
                          <a:effectLst/>
                        </a:rPr>
                        <a:t>7: </a:t>
                      </a:r>
                      <a:r>
                        <a:rPr lang="en-UA" sz="1200">
                          <a:effectLst/>
                        </a:rPr>
                        <a:t>Перегляд зайнятості по готелю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302139"/>
                  </a:ext>
                </a:extLst>
              </a:tr>
              <a:tr h="450296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меню «Керування бронюваннями»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877940"/>
                  </a:ext>
                </a:extLst>
              </a:tr>
              <a:tr h="450296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 dirty="0">
                          <a:effectLst/>
                        </a:rPr>
                        <a:t>Основний сценарій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273606"/>
                  </a:ext>
                </a:extLst>
              </a:tr>
              <a:tr h="45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опцію «4. Зайнятість по готелю».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0785262"/>
                  </a:ext>
                </a:extLst>
              </a:tr>
              <a:tr h="45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Обирає ID готелю зі списку.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6925924"/>
                  </a:ext>
                </a:extLst>
              </a:tr>
              <a:tr h="45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виводить список усіх номерів цього готелю.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0951859"/>
                  </a:ext>
                </a:extLst>
              </a:tr>
              <a:tr h="900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Для кожного номера вказується його статус: «Вільно» або дати активного бронювання.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6895604"/>
                  </a:ext>
                </a:extLst>
              </a:tr>
              <a:tr h="45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переглядає звіт.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6788642"/>
                  </a:ext>
                </a:extLst>
              </a:tr>
              <a:tr h="450296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730721"/>
                  </a:ext>
                </a:extLst>
              </a:tr>
              <a:tr h="450296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A" sz="1200" dirty="0">
                          <a:effectLst/>
                        </a:rPr>
                        <a:t>Не передабчено.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820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CD12C5-A7D1-4FC9-DCC4-1761E523D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11270"/>
              </p:ext>
            </p:extLst>
          </p:nvPr>
        </p:nvGraphicFramePr>
        <p:xfrm>
          <a:off x="6251089" y="1037223"/>
          <a:ext cx="5239067" cy="47835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654">
                  <a:extLst>
                    <a:ext uri="{9D8B030D-6E8A-4147-A177-3AD203B41FA5}">
                      <a16:colId xmlns:a16="http://schemas.microsoft.com/office/drawing/2014/main" val="1952665149"/>
                    </a:ext>
                  </a:extLst>
                </a:gridCol>
                <a:gridCol w="4402413">
                  <a:extLst>
                    <a:ext uri="{9D8B030D-6E8A-4147-A177-3AD203B41FA5}">
                      <a16:colId xmlns:a16="http://schemas.microsoft.com/office/drawing/2014/main" val="896973483"/>
                    </a:ext>
                  </a:extLst>
                </a:gridCol>
              </a:tblGrid>
              <a:tr h="320905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</a:t>
                      </a:r>
                      <a:r>
                        <a:rPr lang="en-GB" sz="1200">
                          <a:effectLst/>
                        </a:rPr>
                        <a:t>1</a:t>
                      </a:r>
                      <a:r>
                        <a:rPr lang="uk-UA" sz="1200">
                          <a:effectLst/>
                        </a:rPr>
                        <a:t>8: </a:t>
                      </a:r>
                      <a:r>
                        <a:rPr lang="en-UA" sz="1200">
                          <a:effectLst/>
                        </a:rPr>
                        <a:t>Пошук історії бронювань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906780"/>
                  </a:ext>
                </a:extLst>
              </a:tr>
              <a:tr h="320905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Головному меню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641579"/>
                  </a:ext>
                </a:extLst>
              </a:tr>
              <a:tr h="32090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408476"/>
                  </a:ext>
                </a:extLst>
              </a:tr>
              <a:tr h="320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«5. Пошук бронювань».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1606951"/>
                  </a:ext>
                </a:extLst>
              </a:tr>
              <a:tr h="641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Система пропонує критерії пошуку: 1. За ID гостя, 2. За ID номера, 3. За датою заїзду, 4. За датою виїзду.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9985192"/>
                  </a:ext>
                </a:extLst>
              </a:tr>
              <a:tr h="641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обирає, наприклад, «1. За ID гостя» і обирає гостя зі списку.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9883622"/>
                  </a:ext>
                </a:extLst>
              </a:tr>
              <a:tr h="748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>
                          <a:effectLst/>
                        </a:rPr>
                        <a:t>BookingManager виконує пошук (searchByGuestId) і повертає список бронювань.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0362642"/>
                  </a:ext>
                </a:extLst>
              </a:tr>
              <a:tr h="320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Результати виводяться на екран у вигляді таблиці.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3352468"/>
                  </a:ext>
                </a:extLst>
              </a:tr>
              <a:tr h="32090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051102"/>
                  </a:ext>
                </a:extLst>
              </a:tr>
              <a:tr h="412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гостя, у якого немає активних бронювань.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0896549"/>
                  </a:ext>
                </a:extLst>
              </a:tr>
              <a:tr h="412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виводить повідомлення «У цього гостя немає бронювань».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8508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666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75EA2B-17E4-3C56-E53D-DC519A221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56284"/>
              </p:ext>
            </p:extLst>
          </p:nvPr>
        </p:nvGraphicFramePr>
        <p:xfrm>
          <a:off x="3043329" y="162427"/>
          <a:ext cx="6105342" cy="19912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4995">
                  <a:extLst>
                    <a:ext uri="{9D8B030D-6E8A-4147-A177-3AD203B41FA5}">
                      <a16:colId xmlns:a16="http://schemas.microsoft.com/office/drawing/2014/main" val="2653429741"/>
                    </a:ext>
                  </a:extLst>
                </a:gridCol>
                <a:gridCol w="5130347">
                  <a:extLst>
                    <a:ext uri="{9D8B030D-6E8A-4147-A177-3AD203B41FA5}">
                      <a16:colId xmlns:a16="http://schemas.microsoft.com/office/drawing/2014/main" val="2829410348"/>
                    </a:ext>
                  </a:extLst>
                </a:gridCol>
              </a:tblGrid>
              <a:tr h="19912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</a:t>
                      </a:r>
                      <a:r>
                        <a:rPr lang="en-GB" sz="1200">
                          <a:effectLst/>
                        </a:rPr>
                        <a:t>1</a:t>
                      </a:r>
                      <a:r>
                        <a:rPr lang="uk-UA" sz="1200">
                          <a:effectLst/>
                        </a:rPr>
                        <a:t>9: </a:t>
                      </a:r>
                      <a:r>
                        <a:rPr lang="en-UA" sz="1200">
                          <a:effectLst/>
                        </a:rPr>
                        <a:t>Перегляд довідки (Допомога)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709927"/>
                  </a:ext>
                </a:extLst>
              </a:tr>
              <a:tr h="19912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Головному меню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006296"/>
                  </a:ext>
                </a:extLst>
              </a:tr>
              <a:tr h="19912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595190"/>
                  </a:ext>
                </a:extLst>
              </a:tr>
              <a:tr h="199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«</a:t>
                      </a:r>
                      <a:r>
                        <a:rPr lang="en-US" sz="1200">
                          <a:effectLst/>
                        </a:rPr>
                        <a:t>6</a:t>
                      </a:r>
                      <a:r>
                        <a:rPr lang="en-UA" sz="1200">
                          <a:effectLst/>
                        </a:rPr>
                        <a:t>. Допомога».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5837850"/>
                  </a:ext>
                </a:extLst>
              </a:tr>
              <a:tr h="597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На екран виводиться детальна інструкція: опис функцій, правила вводу даних (формат дат, числових полів), пояснення щодо навігації.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7673152"/>
                  </a:ext>
                </a:extLst>
              </a:tr>
              <a:tr h="199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натискає Enter для повернення в меню.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2196937"/>
                  </a:ext>
                </a:extLst>
              </a:tr>
              <a:tr h="19912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600103"/>
                  </a:ext>
                </a:extLst>
              </a:tr>
              <a:tr h="19912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 dirty="0">
                          <a:effectLst/>
                        </a:rPr>
                        <a:t>Не передбачено.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21374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E93D77-8B28-29A2-6B3C-E279AE443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32303"/>
              </p:ext>
            </p:extLst>
          </p:nvPr>
        </p:nvGraphicFramePr>
        <p:xfrm>
          <a:off x="342266" y="2388669"/>
          <a:ext cx="5190940" cy="38881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8969">
                  <a:extLst>
                    <a:ext uri="{9D8B030D-6E8A-4147-A177-3AD203B41FA5}">
                      <a16:colId xmlns:a16="http://schemas.microsoft.com/office/drawing/2014/main" val="3551209264"/>
                    </a:ext>
                  </a:extLst>
                </a:gridCol>
                <a:gridCol w="4361971">
                  <a:extLst>
                    <a:ext uri="{9D8B030D-6E8A-4147-A177-3AD203B41FA5}">
                      <a16:colId xmlns:a16="http://schemas.microsoft.com/office/drawing/2014/main" val="3259109496"/>
                    </a:ext>
                  </a:extLst>
                </a:gridCol>
              </a:tblGrid>
              <a:tr h="22218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Сценарій 20: </a:t>
                      </a:r>
                      <a:r>
                        <a:rPr lang="en-UA" sz="1200">
                          <a:effectLst/>
                        </a:rPr>
                        <a:t>Керування обліковими записами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643626"/>
                  </a:ext>
                </a:extLst>
              </a:tr>
              <a:tr h="444365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Передумова: </a:t>
                      </a:r>
                      <a:r>
                        <a:rPr lang="en-UA" sz="1200" dirty="0">
                          <a:effectLst/>
                        </a:rPr>
                        <a:t>Користувач авторизований як Адміністратор і знаходиться в Головному меню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100353"/>
                  </a:ext>
                </a:extLst>
              </a:tr>
              <a:tr h="22218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 dirty="0">
                          <a:effectLst/>
                        </a:rPr>
                        <a:t>Основний сценарій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175322"/>
                  </a:ext>
                </a:extLst>
              </a:tr>
              <a:tr h="222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«7. Адміністрування».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705828"/>
                  </a:ext>
                </a:extLst>
              </a:tr>
              <a:tr h="444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Відкривається підменю: 1. Додати користувача, 2. Видалити користувача, 3. Переглянути всіх.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295154"/>
                  </a:ext>
                </a:extLst>
              </a:tr>
              <a:tr h="222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Адміністратор обирає «1. Додати користувача».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5422716"/>
                  </a:ext>
                </a:extLst>
              </a:tr>
              <a:tr h="481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Вводить новий логін. Система перевіряє його унікальність (</a:t>
                      </a:r>
                      <a:r>
                        <a:rPr lang="en-UA" sz="1400">
                          <a:effectLst/>
                        </a:rPr>
                        <a:t>userExists</a:t>
                      </a:r>
                      <a:r>
                        <a:rPr lang="en-UA" sz="1200">
                          <a:effectLst/>
                        </a:rPr>
                        <a:t>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7678087"/>
                  </a:ext>
                </a:extLst>
              </a:tr>
              <a:tr h="222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Вводить пароль та підтверджує права адміністратора.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1977483"/>
                  </a:ext>
                </a:extLst>
              </a:tr>
              <a:tr h="222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</a:t>
                      </a:r>
                      <a:r>
                        <a:rPr lang="en-US" sz="1200">
                          <a:effectLst/>
                        </a:rPr>
                        <a:t> 6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Новий користувач додається до системи.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1019902"/>
                  </a:ext>
                </a:extLst>
              </a:tr>
              <a:tr h="222183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52"/>
                  </a:ext>
                </a:extLst>
              </a:tr>
              <a:tr h="518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Адміністратор намагається видалити користувача з логіном admin або самого себе.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8456427"/>
                  </a:ext>
                </a:extLst>
              </a:tr>
              <a:tr h="444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 dirty="0">
                          <a:effectLst/>
                        </a:rPr>
                        <a:t>Система блокує дію і виводить повідомлення: «Не можна видалити адміністратора!» або «Не можна видалити себе!».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140026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D3DF7D-22C1-50F4-24A9-EE3CF3BEA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263887"/>
              </p:ext>
            </p:extLst>
          </p:nvPr>
        </p:nvGraphicFramePr>
        <p:xfrm>
          <a:off x="6220326" y="2334126"/>
          <a:ext cx="5629408" cy="3918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8991">
                  <a:extLst>
                    <a:ext uri="{9D8B030D-6E8A-4147-A177-3AD203B41FA5}">
                      <a16:colId xmlns:a16="http://schemas.microsoft.com/office/drawing/2014/main" val="1908457116"/>
                    </a:ext>
                  </a:extLst>
                </a:gridCol>
                <a:gridCol w="4730417">
                  <a:extLst>
                    <a:ext uri="{9D8B030D-6E8A-4147-A177-3AD203B41FA5}">
                      <a16:colId xmlns:a16="http://schemas.microsoft.com/office/drawing/2014/main" val="2542901213"/>
                    </a:ext>
                  </a:extLst>
                </a:gridCol>
              </a:tblGrid>
              <a:tr h="221812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 dirty="0">
                          <a:effectLst/>
                        </a:rPr>
                        <a:t>Сценарій 2</a:t>
                      </a:r>
                      <a:r>
                        <a:rPr lang="en-US" sz="1200" dirty="0">
                          <a:effectLst/>
                        </a:rPr>
                        <a:t>1</a:t>
                      </a:r>
                      <a:r>
                        <a:rPr lang="uk-UA" sz="1200" dirty="0">
                          <a:effectLst/>
                        </a:rPr>
                        <a:t>: </a:t>
                      </a:r>
                      <a:r>
                        <a:rPr lang="en-UA" sz="1200" dirty="0">
                          <a:effectLst/>
                        </a:rPr>
                        <a:t>Збереження даних та вихід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365637"/>
                  </a:ext>
                </a:extLst>
              </a:tr>
              <a:tr h="221812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Передумова: </a:t>
                      </a:r>
                      <a:r>
                        <a:rPr lang="en-UA" sz="1200">
                          <a:effectLst/>
                        </a:rPr>
                        <a:t>Користувач знаходиться в Головному меню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166396"/>
                  </a:ext>
                </a:extLst>
              </a:tr>
              <a:tr h="22181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Основний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949652"/>
                  </a:ext>
                </a:extLst>
              </a:tr>
              <a:tr h="221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Користувач обирає пункт «8. Вихід та збереження» (або 0).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4020392"/>
                  </a:ext>
                </a:extLst>
              </a:tr>
              <a:tr h="258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dirty="0">
                          <a:effectLst/>
                        </a:rPr>
                        <a:t>Викликається функція saveAllData().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2356110"/>
                  </a:ext>
                </a:extLst>
              </a:tr>
              <a:tr h="517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3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Дані з усіх менеджерів (HotelManager, RoomManager тощо) послідовно записуються у відповідні файли .csv.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3205706"/>
                  </a:ext>
                </a:extLst>
              </a:tr>
              <a:tr h="517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4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Виводиться повідомлення «До побачення! Дані збережено».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368459"/>
                  </a:ext>
                </a:extLst>
              </a:tr>
              <a:tr h="221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5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200">
                          <a:effectLst/>
                        </a:rPr>
                        <a:t>Програма завершує виконання.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22735"/>
                  </a:ext>
                </a:extLst>
              </a:tr>
              <a:tr h="22181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200">
                          <a:effectLst/>
                        </a:rPr>
                        <a:t>Альтернативний сценарій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402261"/>
                  </a:ext>
                </a:extLst>
              </a:tr>
              <a:tr h="517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1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400">
                          <a:effectLst/>
                        </a:rPr>
                        <a:t>Виникає помилка доступу до файлу при запису (наприклад, файл відкритий в іншій програмі).</a:t>
                      </a:r>
                      <a:endParaRPr lang="en-U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333678"/>
                  </a:ext>
                </a:extLst>
              </a:tr>
              <a:tr h="776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sz="1200">
                          <a:effectLst/>
                        </a:rPr>
                        <a:t>Крок 2</a:t>
                      </a:r>
                      <a:endParaRPr lang="en-UA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A" sz="1400" dirty="0">
                          <a:effectLst/>
                        </a:rPr>
                        <a:t>Система перехоплює виняток (catch std::exception) і виводить повідомлення про помилку: «Не вдалося зберегти дані у файл».</a:t>
                      </a:r>
                      <a:endParaRPr lang="en-UA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562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954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7AF1FA-F313-CA48-5FBD-D1A8F2C08049}"/>
              </a:ext>
            </a:extLst>
          </p:cNvPr>
          <p:cNvSpPr txBox="1"/>
          <p:nvPr/>
        </p:nvSpPr>
        <p:spPr>
          <a:xfrm>
            <a:off x="231608" y="421106"/>
            <a:ext cx="78959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Блок-схеми основних алгоритмів</a:t>
            </a:r>
            <a:endParaRPr lang="en-U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67FB2-0490-DBA4-4529-D84168FE8F47}"/>
              </a:ext>
            </a:extLst>
          </p:cNvPr>
          <p:cNvSpPr txBox="1"/>
          <p:nvPr/>
        </p:nvSpPr>
        <p:spPr>
          <a:xfrm>
            <a:off x="427120" y="2648362"/>
            <a:ext cx="4782553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3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Додавання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3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3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Видалення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3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Пошук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3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і сортування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40CF09E-F5BA-2794-6956-A4379665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474" y="182784"/>
            <a:ext cx="4502748" cy="6675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08596-F45A-20EE-3CCB-ED992BC47872}"/>
              </a:ext>
            </a:extLst>
          </p:cNvPr>
          <p:cNvSpPr txBox="1"/>
          <p:nvPr/>
        </p:nvSpPr>
        <p:spPr>
          <a:xfrm>
            <a:off x="7748337" y="6121218"/>
            <a:ext cx="19302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Додавання</a:t>
            </a:r>
            <a:endParaRPr lang="en-UA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74F5A0-0235-5D76-D8E6-BC6458007ABC}"/>
              </a:ext>
            </a:extLst>
          </p:cNvPr>
          <p:cNvCxnSpPr/>
          <p:nvPr/>
        </p:nvCxnSpPr>
        <p:spPr>
          <a:xfrm flipV="1">
            <a:off x="8410074" y="5293895"/>
            <a:ext cx="445168" cy="637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336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DA0C9A3-48AD-2A37-DE2A-0A870FBC0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34" y="291627"/>
            <a:ext cx="3624865" cy="6132316"/>
          </a:xfrm>
          <a:prstGeom prst="rect">
            <a:avLst/>
          </a:prstGeom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E63300B-AE1E-A295-2A88-623381BE5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088" y="126537"/>
            <a:ext cx="3381392" cy="66049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CD1ECB-685C-1C4F-0777-DC7E5DEFE2EB}"/>
              </a:ext>
            </a:extLst>
          </p:cNvPr>
          <p:cNvSpPr txBox="1"/>
          <p:nvPr/>
        </p:nvSpPr>
        <p:spPr>
          <a:xfrm>
            <a:off x="300789" y="782052"/>
            <a:ext cx="22100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  <a:endParaRPr lang="en-UA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8E07C-EF68-C45E-A4B8-92DE5EB03B1B}"/>
              </a:ext>
            </a:extLst>
          </p:cNvPr>
          <p:cNvSpPr txBox="1"/>
          <p:nvPr/>
        </p:nvSpPr>
        <p:spPr>
          <a:xfrm>
            <a:off x="6096000" y="782052"/>
            <a:ext cx="19673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Видалення</a:t>
            </a:r>
            <a:endParaRPr lang="en-UA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CA54CA-10C6-3104-C8EE-54920444CA69}"/>
              </a:ext>
            </a:extLst>
          </p:cNvPr>
          <p:cNvCxnSpPr/>
          <p:nvPr/>
        </p:nvCxnSpPr>
        <p:spPr>
          <a:xfrm>
            <a:off x="1632934" y="1612232"/>
            <a:ext cx="448529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BC943E-6A09-DCFF-AAA3-6DE0440CAD70}"/>
              </a:ext>
            </a:extLst>
          </p:cNvPr>
          <p:cNvCxnSpPr/>
          <p:nvPr/>
        </p:nvCxnSpPr>
        <p:spPr>
          <a:xfrm>
            <a:off x="7676147" y="1612232"/>
            <a:ext cx="518504" cy="324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914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2B28AD5-2A15-06BC-7A33-2E1E5489F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4" y="482549"/>
            <a:ext cx="6017895" cy="61575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083C69-58D4-9B52-C0D6-24A3332B8B75}"/>
              </a:ext>
            </a:extLst>
          </p:cNvPr>
          <p:cNvSpPr txBox="1"/>
          <p:nvPr/>
        </p:nvSpPr>
        <p:spPr>
          <a:xfrm>
            <a:off x="4114800" y="1624264"/>
            <a:ext cx="13468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Пошук</a:t>
            </a:r>
            <a:endParaRPr lang="en-UA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57C103D-FD78-8CA8-C580-CBF5ABD6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807" y="222300"/>
            <a:ext cx="2769716" cy="64133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EFAC74-C4F7-C96B-C2F4-D4C714285CEE}"/>
              </a:ext>
            </a:extLst>
          </p:cNvPr>
          <p:cNvSpPr txBox="1"/>
          <p:nvPr/>
        </p:nvSpPr>
        <p:spPr>
          <a:xfrm>
            <a:off x="5739063" y="482549"/>
            <a:ext cx="38323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і сортування</a:t>
            </a:r>
          </a:p>
          <a:p>
            <a:endParaRPr lang="en-UA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1B0F3C-648C-F7C6-4FB3-4A0A57CCE242}"/>
              </a:ext>
            </a:extLst>
          </p:cNvPr>
          <p:cNvCxnSpPr/>
          <p:nvPr/>
        </p:nvCxnSpPr>
        <p:spPr>
          <a:xfrm flipH="1">
            <a:off x="4247147" y="2178262"/>
            <a:ext cx="685800" cy="73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2624BE-02A5-058B-D336-0FA808143227}"/>
              </a:ext>
            </a:extLst>
          </p:cNvPr>
          <p:cNvCxnSpPr/>
          <p:nvPr/>
        </p:nvCxnSpPr>
        <p:spPr>
          <a:xfrm>
            <a:off x="8085221" y="1431758"/>
            <a:ext cx="962526" cy="1113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363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85DFC1-1FAF-3989-DB18-1B9B807874FB}"/>
              </a:ext>
            </a:extLst>
          </p:cNvPr>
          <p:cNvSpPr txBox="1"/>
          <p:nvPr/>
        </p:nvSpPr>
        <p:spPr>
          <a:xfrm>
            <a:off x="3697811" y="340823"/>
            <a:ext cx="4796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Класи бізнес-логіки</a:t>
            </a:r>
            <a:endParaRPr lang="en-U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0022-CFBC-4FCC-3062-F31A719A2AD1}"/>
              </a:ext>
            </a:extLst>
          </p:cNvPr>
          <p:cNvSpPr txBox="1"/>
          <p:nvPr/>
        </p:nvSpPr>
        <p:spPr>
          <a:xfrm>
            <a:off x="488535" y="1323475"/>
            <a:ext cx="106855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побудована на взаємодії Сутностей та Менеджерів:</a:t>
            </a:r>
            <a:endParaRPr lang="en-UA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4A9E2-34E5-1359-0FFE-C2F92CC453EC}"/>
              </a:ext>
            </a:extLst>
          </p:cNvPr>
          <p:cNvSpPr txBox="1"/>
          <p:nvPr/>
        </p:nvSpPr>
        <p:spPr>
          <a:xfrm>
            <a:off x="233955" y="2347641"/>
            <a:ext cx="11491479" cy="2785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Сутності (Дані):</a:t>
            </a:r>
            <a:endParaRPr lang="uk-UA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— </a:t>
            </a:r>
            <a:r>
              <a:rPr lang="uk-UA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 про готель.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(</a:t>
            </a:r>
            <a:r>
              <a:rPr lang="uk-UA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підкласи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LuxuryRoom, StandardRoom) — </a:t>
            </a:r>
            <a:r>
              <a:rPr lang="uk-UA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поліморфна структура номерів.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— </a:t>
            </a:r>
            <a:r>
              <a:rPr lang="uk-UA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персональні дані клієнта.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— </a:t>
            </a:r>
            <a:r>
              <a:rPr lang="uk-UA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 про резервацію.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— </a:t>
            </a:r>
            <a:r>
              <a:rPr lang="uk-UA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обліковий запис користувача.</a:t>
            </a:r>
          </a:p>
          <a:p>
            <a:endParaRPr lang="en-UA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84A49C-4EC9-711A-C6DC-6F1EE6A6AE15}"/>
              </a:ext>
            </a:extLst>
          </p:cNvPr>
          <p:cNvSpPr txBox="1"/>
          <p:nvPr/>
        </p:nvSpPr>
        <p:spPr>
          <a:xfrm>
            <a:off x="233955" y="5301460"/>
            <a:ext cx="107802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Менеджери (Логіка):</a:t>
            </a:r>
            <a:endParaRPr lang="uk-UA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HotelManager, RoomManager, GuestManager, BookingManager, UserManager</a:t>
            </a:r>
          </a:p>
        </p:txBody>
      </p:sp>
    </p:spTree>
    <p:extLst>
      <p:ext uri="{BB962C8B-B14F-4D97-AF65-F5344CB8AC3E}">
        <p14:creationId xmlns:p14="http://schemas.microsoft.com/office/powerpoint/2010/main" val="1724507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D5E50-5199-F076-CB7F-7BD8FAB05942}"/>
              </a:ext>
            </a:extLst>
          </p:cNvPr>
          <p:cNvSpPr txBox="1"/>
          <p:nvPr/>
        </p:nvSpPr>
        <p:spPr>
          <a:xfrm>
            <a:off x="2854535" y="372979"/>
            <a:ext cx="64829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Перелік функцій програми</a:t>
            </a:r>
            <a:endParaRPr lang="en-U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D9E24-C152-37BF-39D5-539EADA28178}"/>
              </a:ext>
            </a:extLst>
          </p:cNvPr>
          <p:cNvSpPr txBox="1"/>
          <p:nvPr/>
        </p:nvSpPr>
        <p:spPr>
          <a:xfrm>
            <a:off x="3638018" y="1552073"/>
            <a:ext cx="49159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реалізовані функції:</a:t>
            </a:r>
            <a:endParaRPr lang="en-UA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95AD6F2-8DEF-29B7-77BC-C050FF100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949" y="2792179"/>
            <a:ext cx="9617633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addHotel(), editHotel(), deleteHotel() — </a:t>
            </a:r>
            <a:r>
              <a:rPr kumimoji="0" lang="en-UA" altLang="en-UA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CRUD операції</a:t>
            </a: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searchFreeRooms(city, capacity, dates) — </a:t>
            </a:r>
            <a:r>
              <a:rPr kumimoji="0" lang="en-UA" altLang="en-UA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пошук доступних номерів</a:t>
            </a: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isRoomOccupied(id, start, end) — </a:t>
            </a:r>
            <a:r>
              <a:rPr kumimoji="0" lang="en-UA" altLang="en-UA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 зайнятості номера</a:t>
            </a: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searchByGuestId() — </a:t>
            </a:r>
            <a:r>
              <a:rPr kumimoji="0" lang="en-UA" altLang="en-UA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пошук історії бронювань</a:t>
            </a: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loadFromFile() / saveToFile() — </a:t>
            </a:r>
            <a:r>
              <a:rPr kumimoji="0" lang="en-UA" altLang="en-UA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серіалізація даних у CSV</a:t>
            </a: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login() — </a:t>
            </a:r>
            <a:r>
              <a:rPr kumimoji="0" lang="en-UA" altLang="en-UA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авторизація користувачів</a:t>
            </a: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3980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36F03E-5D66-B340-BC3E-EC7C088054C2}"/>
              </a:ext>
            </a:extLst>
          </p:cNvPr>
          <p:cNvSpPr txBox="1"/>
          <p:nvPr/>
        </p:nvSpPr>
        <p:spPr>
          <a:xfrm>
            <a:off x="1210303" y="336884"/>
            <a:ext cx="9771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Інтерфейс: Авторизація та Головне меню</a:t>
            </a:r>
            <a:endParaRPr lang="en-U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35DC88-09D3-2D35-1B8B-9F3D3101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5" y="2261937"/>
            <a:ext cx="5605192" cy="3119282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CBEA2F4-814C-87D7-1388-AAA0753B5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9792"/>
            <a:ext cx="5760085" cy="35140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445709-3E05-4920-FD4C-2F05E253C3AF}"/>
              </a:ext>
            </a:extLst>
          </p:cNvPr>
          <p:cNvSpPr txBox="1"/>
          <p:nvPr/>
        </p:nvSpPr>
        <p:spPr>
          <a:xfrm>
            <a:off x="770022" y="1624263"/>
            <a:ext cx="3978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Вхід у систему захищено паролем.</a:t>
            </a:r>
            <a:endParaRPr lang="en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99817-8BB0-EA0D-DAB0-AE80230C781E}"/>
              </a:ext>
            </a:extLst>
          </p:cNvPr>
          <p:cNvSpPr txBox="1"/>
          <p:nvPr/>
        </p:nvSpPr>
        <p:spPr>
          <a:xfrm>
            <a:off x="6095999" y="1424208"/>
            <a:ext cx="5262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Головне меню надає доступ до всіх підсистем.</a:t>
            </a:r>
          </a:p>
        </p:txBody>
      </p:sp>
    </p:spTree>
    <p:extLst>
      <p:ext uri="{BB962C8B-B14F-4D97-AF65-F5344CB8AC3E}">
        <p14:creationId xmlns:p14="http://schemas.microsoft.com/office/powerpoint/2010/main" val="672709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D38910-87B4-54E1-72DD-F2D50EB0D172}"/>
              </a:ext>
            </a:extLst>
          </p:cNvPr>
          <p:cNvSpPr txBox="1"/>
          <p:nvPr/>
        </p:nvSpPr>
        <p:spPr>
          <a:xfrm>
            <a:off x="731967" y="57036"/>
            <a:ext cx="107280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Інтерфейс: Керування готелями та номерами</a:t>
            </a:r>
            <a:endParaRPr lang="en-U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16B0CB5-BBFB-BC75-326C-0F46BF86A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191" y="917671"/>
            <a:ext cx="4740945" cy="2557320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6EB4C12-E413-AC61-A32F-8A5846742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192" y="3904481"/>
            <a:ext cx="4740945" cy="281481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1A0B2F-4C23-2DC9-EC37-BA7B42B1F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71" y="1361941"/>
            <a:ext cx="2964180" cy="508508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7C56F9-EA33-41C0-4347-C528E96AA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8700" y="1204077"/>
            <a:ext cx="3498850" cy="5051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741BDB-AFEC-EA8D-ED56-5FF6A6A470AC}"/>
              </a:ext>
            </a:extLst>
          </p:cNvPr>
          <p:cNvSpPr txBox="1"/>
          <p:nvPr/>
        </p:nvSpPr>
        <p:spPr>
          <a:xfrm>
            <a:off x="3653301" y="3474991"/>
            <a:ext cx="4127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списку готелів та номерів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45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E1838-21F1-1716-8D31-78E9E0AA84EA}"/>
              </a:ext>
            </a:extLst>
          </p:cNvPr>
          <p:cNvSpPr txBox="1"/>
          <p:nvPr/>
        </p:nvSpPr>
        <p:spPr>
          <a:xfrm>
            <a:off x="3791061" y="323760"/>
            <a:ext cx="43602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Інтерфейс: Робота з гостями</a:t>
            </a:r>
            <a:endParaRPr lang="en-U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4FE7789-68C9-AEC4-B3D3-9F7948559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673" y="4138863"/>
            <a:ext cx="4512996" cy="2542911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499C01-7BAE-C54B-6016-BBFFB433C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604" y="612569"/>
            <a:ext cx="3643339" cy="6026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200AD6-A154-DC1A-B315-1CB92C6F4AB3}"/>
              </a:ext>
            </a:extLst>
          </p:cNvPr>
          <p:cNvSpPr txBox="1"/>
          <p:nvPr/>
        </p:nvSpPr>
        <p:spPr>
          <a:xfrm>
            <a:off x="4658151" y="2692976"/>
            <a:ext cx="2626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Пошук клієнтів у базі.</a:t>
            </a:r>
            <a:endParaRPr lang="en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89589-23BA-13E5-6370-213AB9D6A454}"/>
              </a:ext>
            </a:extLst>
          </p:cNvPr>
          <p:cNvSpPr txBox="1"/>
          <p:nvPr/>
        </p:nvSpPr>
        <p:spPr>
          <a:xfrm>
            <a:off x="3679037" y="3564860"/>
            <a:ext cx="4584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Сортування списку гостей за алфавітом.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FF3F90-4B8B-9E64-2F57-D258A6ABD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7" y="480428"/>
            <a:ext cx="3406422" cy="62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23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0B7481-FABF-D9A8-22D8-7CD098E853CC}"/>
              </a:ext>
            </a:extLst>
          </p:cNvPr>
          <p:cNvSpPr txBox="1"/>
          <p:nvPr/>
        </p:nvSpPr>
        <p:spPr>
          <a:xfrm>
            <a:off x="1362925" y="709863"/>
            <a:ext cx="44101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Інтерфейс: Бронювання</a:t>
            </a:r>
            <a:endParaRPr lang="en-UA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D52C117-0E19-B2B1-C19D-A22CA91B2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31" y="3251133"/>
            <a:ext cx="5594215" cy="2897004"/>
          </a:xfrm>
          <a:prstGeom prst="rect">
            <a:avLst/>
          </a:prstGeom>
        </p:spPr>
      </p:pic>
      <p:pic>
        <p:nvPicPr>
          <p:cNvPr id="4" name="Picture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C3AB05B4-7303-7DE1-EA65-ECB8FAFF9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836" y="35877"/>
            <a:ext cx="4375785" cy="6786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281542-EE7E-C38B-9524-B759910F75D0}"/>
              </a:ext>
            </a:extLst>
          </p:cNvPr>
          <p:cNvSpPr txBox="1"/>
          <p:nvPr/>
        </p:nvSpPr>
        <p:spPr>
          <a:xfrm>
            <a:off x="1362925" y="2280222"/>
            <a:ext cx="4581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Сортування списку бронювань за алфавітом.</a:t>
            </a:r>
          </a:p>
        </p:txBody>
      </p:sp>
    </p:spTree>
    <p:extLst>
      <p:ext uri="{BB962C8B-B14F-4D97-AF65-F5344CB8AC3E}">
        <p14:creationId xmlns:p14="http://schemas.microsoft.com/office/powerpoint/2010/main" val="1742450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14D27-E441-E7BE-0B83-E6E11E3325D3}"/>
              </a:ext>
            </a:extLst>
          </p:cNvPr>
          <p:cNvSpPr txBox="1"/>
          <p:nvPr/>
        </p:nvSpPr>
        <p:spPr>
          <a:xfrm>
            <a:off x="5859379" y="2598820"/>
            <a:ext cx="38624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Інтерфейс: Допомога</a:t>
            </a:r>
            <a:endParaRPr lang="en-UA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3B820A-9793-A1DC-126D-C27868DA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3" y="145805"/>
            <a:ext cx="5179612" cy="6566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539EC2-6672-339B-2C02-98BDA0BF389F}"/>
              </a:ext>
            </a:extLst>
          </p:cNvPr>
          <p:cNvSpPr txBox="1"/>
          <p:nvPr/>
        </p:nvSpPr>
        <p:spPr>
          <a:xfrm>
            <a:off x="5859379" y="3585410"/>
            <a:ext cx="5179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оротк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довідк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описом функцій програми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A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698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EF47FA-4CDE-F133-0FD0-542C1DC1A56A}"/>
              </a:ext>
            </a:extLst>
          </p:cNvPr>
          <p:cNvSpPr txBox="1"/>
          <p:nvPr/>
        </p:nvSpPr>
        <p:spPr>
          <a:xfrm>
            <a:off x="745958" y="794084"/>
            <a:ext cx="51696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Інтерфейс: Адміністрування</a:t>
            </a:r>
            <a:endParaRPr lang="en-UA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E800987-8558-64BC-1C40-81E78E91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1" y="3559359"/>
            <a:ext cx="6102093" cy="2504557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40D39A6-568E-17D3-5BE5-DD992841A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153" y="1115294"/>
            <a:ext cx="4923857" cy="462741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E4F51E7-6156-E6E2-08AD-6D2C2B6F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72" y="2870810"/>
            <a:ext cx="54573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A" altLang="en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адміністратора для керування доступом.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E2D9E-E23F-B138-2911-A7D7921F7992}"/>
              </a:ext>
            </a:extLst>
          </p:cNvPr>
          <p:cNvSpPr txBox="1"/>
          <p:nvPr/>
        </p:nvSpPr>
        <p:spPr>
          <a:xfrm>
            <a:off x="8361947" y="5863861"/>
            <a:ext cx="2527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користувачів</a:t>
            </a:r>
            <a:r>
              <a:rPr lang="en-UA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938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D255E-4810-079D-AED2-C540C3195C80}"/>
              </a:ext>
            </a:extLst>
          </p:cNvPr>
          <p:cNvSpPr txBox="1"/>
          <p:nvPr/>
        </p:nvSpPr>
        <p:spPr>
          <a:xfrm>
            <a:off x="4504823" y="512330"/>
            <a:ext cx="31823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lang="en-U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78702-DEB6-46C8-6B82-BF15D23A18A7}"/>
              </a:ext>
            </a:extLst>
          </p:cNvPr>
          <p:cNvSpPr txBox="1"/>
          <p:nvPr/>
        </p:nvSpPr>
        <p:spPr>
          <a:xfrm>
            <a:off x="2484113" y="1624263"/>
            <a:ext cx="72237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результаті виконання курсового проєкту:</a:t>
            </a:r>
            <a:endParaRPr lang="en-UA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65309D0-646E-E60C-3578-6CFB5E245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250" y="2582308"/>
            <a:ext cx="1090149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 повнофункціональну систему бронювання готелів на C++.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надійне зберігання даних у файлах 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Забезпечено цілісність даних завдяки каскадному видаленню та валідації вводу.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Впроваджено алгоритми пошуку та фільтрації, що значно пришвидшує роботу адміністратора.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A" altLang="en-UA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готова до використання в навчальних цілях або для автоматизації малих готелів.</a:t>
            </a:r>
          </a:p>
        </p:txBody>
      </p:sp>
    </p:spTree>
    <p:extLst>
      <p:ext uri="{BB962C8B-B14F-4D97-AF65-F5344CB8AC3E}">
        <p14:creationId xmlns:p14="http://schemas.microsoft.com/office/powerpoint/2010/main" val="1797500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6CD360-7DD7-4D92-2AAA-FAA896D7F6B9}"/>
              </a:ext>
            </a:extLst>
          </p:cNvPr>
          <p:cNvSpPr txBox="1"/>
          <p:nvPr/>
        </p:nvSpPr>
        <p:spPr>
          <a:xfrm>
            <a:off x="3083957" y="2567226"/>
            <a:ext cx="60240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УВАГУ!</a:t>
            </a:r>
            <a:endParaRPr lang="en-UA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498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2999</Words>
  <Application>Microsoft Macintosh PowerPoint</Application>
  <PresentationFormat>Widescreen</PresentationFormat>
  <Paragraphs>505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Times New Roman</vt:lpstr>
      <vt:lpstr>Office Theme</vt:lpstr>
      <vt:lpstr>Курсовий проєкт  на тему: Система бронювання номерів в готелі</vt:lpstr>
      <vt:lpstr>Мета: Розробка програмної системи для автоматизації роботи адміністратора готелю, ведення обліку номерного фонду та керування бронюваннями.</vt:lpstr>
      <vt:lpstr>Інструментальні засоби</vt:lpstr>
      <vt:lpstr>Перелік сценаріїв використання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Анастасія Михайлівна Дем'янчук</dc:creator>
  <cp:lastModifiedBy>Анастасія Михайлівна Дем'янчук</cp:lastModifiedBy>
  <cp:revision>1</cp:revision>
  <dcterms:created xsi:type="dcterms:W3CDTF">2025-11-26T03:13:02Z</dcterms:created>
  <dcterms:modified xsi:type="dcterms:W3CDTF">2025-11-26T04:10:27Z</dcterms:modified>
</cp:coreProperties>
</file>